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87" r:id="rId3"/>
    <p:sldId id="286" r:id="rId4"/>
    <p:sldId id="288" r:id="rId5"/>
    <p:sldId id="285" r:id="rId6"/>
    <p:sldId id="289" r:id="rId7"/>
    <p:sldId id="283" r:id="rId8"/>
    <p:sldId id="284" r:id="rId9"/>
    <p:sldId id="266" r:id="rId10"/>
    <p:sldId id="280" r:id="rId11"/>
    <p:sldId id="281" r:id="rId12"/>
    <p:sldId id="282" r:id="rId13"/>
    <p:sldId id="290" r:id="rId14"/>
    <p:sldId id="267" r:id="rId15"/>
    <p:sldId id="276" r:id="rId16"/>
    <p:sldId id="262" r:id="rId17"/>
    <p:sldId id="274" r:id="rId18"/>
    <p:sldId id="272" r:id="rId19"/>
    <p:sldId id="271" r:id="rId20"/>
    <p:sldId id="277" r:id="rId21"/>
    <p:sldId id="264" r:id="rId22"/>
    <p:sldId id="279" r:id="rId23"/>
    <p:sldId id="265" r:id="rId24"/>
    <p:sldId id="275" r:id="rId2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71FF"/>
    <a:srgbClr val="6D9AFF"/>
    <a:srgbClr val="578BFF"/>
    <a:srgbClr val="FF5729"/>
    <a:srgbClr val="0000FF"/>
    <a:srgbClr val="009BFF"/>
    <a:srgbClr val="FF6600"/>
    <a:srgbClr val="00FFFF"/>
    <a:srgbClr val="FF00FF"/>
    <a:srgbClr val="3903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6429" autoAdjust="0"/>
  </p:normalViewPr>
  <p:slideViewPr>
    <p:cSldViewPr>
      <p:cViewPr varScale="1">
        <p:scale>
          <a:sx n="61" d="100"/>
          <a:sy n="61" d="100"/>
        </p:scale>
        <p:origin x="48" y="3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FE381-DE18-47F9-B495-040DAF17519D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3A2D3-5611-4893-9F1B-B32045CD51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5563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表紙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E3A2D3-5611-4893-9F1B-B32045CD5132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8755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画像①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3A2D3-5611-4893-9F1B-B32045CD5132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189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インタープリタ言語：ソースコードを、コンピュータが実行時に</a:t>
            </a:r>
            <a:r>
              <a:rPr kumimoji="1" lang="en-US" altLang="ja-JP" dirty="0"/>
              <a:t>1</a:t>
            </a:r>
            <a:r>
              <a:rPr kumimoji="1" lang="ja-JP" altLang="en-US" dirty="0"/>
              <a:t>行ずつ機械語に翻訳しながら実行していく方式の言語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3A2D3-5611-4893-9F1B-B32045CD5132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4014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画像②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3A2D3-5611-4893-9F1B-B32045CD5132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8246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F#</a:t>
            </a:r>
            <a:r>
              <a:rPr kumimoji="1" lang="ja-JP" altLang="en-US" dirty="0"/>
              <a:t>ベースの</a:t>
            </a:r>
            <a:r>
              <a:rPr kumimoji="1" lang="en-US" altLang="ja-JP" dirty="0" err="1"/>
              <a:t>Aqualis</a:t>
            </a:r>
            <a:r>
              <a:rPr kumimoji="1" lang="ja-JP" altLang="en-US" dirty="0"/>
              <a:t>でコードを書き、</a:t>
            </a:r>
            <a:r>
              <a:rPr kumimoji="1" lang="en-US" altLang="ja-JP" dirty="0"/>
              <a:t>HTML</a:t>
            </a:r>
            <a:r>
              <a:rPr kumimoji="1" lang="ja-JP" altLang="en-US" dirty="0"/>
              <a:t>、</a:t>
            </a:r>
            <a:r>
              <a:rPr kumimoji="1" lang="en-US" altLang="ja-JP" dirty="0"/>
              <a:t>JS</a:t>
            </a:r>
            <a:r>
              <a:rPr kumimoji="1" lang="ja-JP" altLang="en-US" dirty="0"/>
              <a:t>を自動生成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3A2D3-5611-4893-9F1B-B32045CD5132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93578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無くても良いスライド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3A2D3-5611-4893-9F1B-B32045CD5132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33872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画像②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3A2D3-5611-4893-9F1B-B32045CD5132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584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背景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3A2D3-5611-4893-9F1B-B32045CD5132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77399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画像②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3A2D3-5611-4893-9F1B-B32045CD5132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93385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画像①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3A2D3-5611-4893-9F1B-B32045CD5132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1736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E5B6CAC6-6EAD-4B6B-A77C-31C1A25B21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2702" r="12297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4797152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原ノ味角ゴシック Medium" panose="020B0600000000000000" pitchFamily="34" charset="-128"/>
                <a:ea typeface="原ノ味角ゴシック Medium" panose="020B0600000000000000" pitchFamily="34" charset="-128"/>
              </a:defRPr>
            </a:lvl1pPr>
            <a:lvl2pPr marL="3428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564909"/>
            <a:ext cx="7772400" cy="1470025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  <a:latin typeface="原ノ味角ゴシック Medium" panose="020B0600000000000000" pitchFamily="34" charset="-128"/>
                <a:ea typeface="原ノ味角ゴシック Medium" panose="020B0600000000000000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4F03C32B-2689-4787-9F32-61FE94709E2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082" y="83468"/>
            <a:ext cx="5105990" cy="1744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294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948264" y="5328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原ノ味角ゴシック Medium" panose="020B0600000000000000" pitchFamily="34" charset="-128"/>
                <a:ea typeface="原ノ味角ゴシック Medium" panose="020B0600000000000000" pitchFamily="34" charset="-128"/>
                <a:cs typeface="Times New Roman" pitchFamily="18" charset="0"/>
              </a:defRPr>
            </a:lvl1pPr>
          </a:lstStyle>
          <a:p>
            <a:fld id="{AC40D369-D8A1-4FCD-B4F3-6134ECBD7DC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63352" y="332656"/>
            <a:ext cx="8064896" cy="634082"/>
          </a:xfrm>
        </p:spPr>
        <p:txBody>
          <a:bodyPr/>
          <a:lstStyle>
            <a:lvl1pPr>
              <a:defRPr sz="2200" b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原ノ味角ゴシック Medium" panose="020B0600000000000000" pitchFamily="34" charset="-128"/>
                <a:ea typeface="原ノ味角ゴシック Medium" panose="020B0600000000000000" pitchFamily="34" charset="-128"/>
                <a:cs typeface="原ノ味角ゴシック Medium" panose="020B0600000000000000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BCDAFEB-E179-6A04-A722-5BBCFA7A4C8A}"/>
              </a:ext>
            </a:extLst>
          </p:cNvPr>
          <p:cNvSpPr/>
          <p:nvPr userDrawn="1"/>
        </p:nvSpPr>
        <p:spPr>
          <a:xfrm>
            <a:off x="1" y="329880"/>
            <a:ext cx="263351" cy="634082"/>
          </a:xfrm>
          <a:prstGeom prst="rect">
            <a:avLst/>
          </a:prstGeom>
          <a:gradFill flip="none" rotWithShape="1">
            <a:gsLst>
              <a:gs pos="0">
                <a:srgbClr val="3371FF"/>
              </a:gs>
              <a:gs pos="100000">
                <a:srgbClr val="5B8EFF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>
              <a:solidFill>
                <a:srgbClr val="3371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88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3E2FC2A-D35D-4F48-ADEF-CA25DBA6CA87}"/>
              </a:ext>
            </a:extLst>
          </p:cNvPr>
          <p:cNvSpPr/>
          <p:nvPr userDrawn="1"/>
        </p:nvSpPr>
        <p:spPr>
          <a:xfrm>
            <a:off x="426553" y="1920329"/>
            <a:ext cx="263351" cy="634082"/>
          </a:xfrm>
          <a:prstGeom prst="rect">
            <a:avLst/>
          </a:prstGeom>
          <a:solidFill>
            <a:srgbClr val="337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>
              <a:solidFill>
                <a:srgbClr val="3371FF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3A17B99-4D00-4EC0-BC76-F1C61B679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904" y="1920329"/>
            <a:ext cx="7878540" cy="634082"/>
          </a:xfrm>
        </p:spPr>
        <p:txBody>
          <a:bodyPr/>
          <a:lstStyle>
            <a:lvl1pPr>
              <a:defRPr sz="3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スライド番号プレースホルダー 5">
            <a:extLst>
              <a:ext uri="{FF2B5EF4-FFF2-40B4-BE49-F238E27FC236}">
                <a16:creationId xmlns:a16="http://schemas.microsoft.com/office/drawing/2014/main" id="{98050A4C-F284-4336-8311-9F4BE1CCA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48264" y="5328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原ノ味角ゴシック Medium" panose="020B0600000000000000" pitchFamily="34" charset="-128"/>
                <a:ea typeface="原ノ味角ゴシック Medium" panose="020B0600000000000000" pitchFamily="34" charset="-128"/>
                <a:cs typeface="Times New Roman" pitchFamily="18" charset="0"/>
              </a:defRPr>
            </a:lvl1pPr>
          </a:lstStyle>
          <a:p>
            <a:fld id="{AC40D369-D8A1-4FCD-B4F3-6134ECBD7DC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0299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3" y="103646"/>
            <a:ext cx="9143999" cy="6340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72447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685783" rtl="0" eaLnBrk="1" latinLnBrk="0" hangingPunct="1">
        <a:spcBef>
          <a:spcPct val="0"/>
        </a:spcBef>
        <a:buNone/>
        <a:defRPr kumimoji="1" sz="2100" b="0" kern="1200">
          <a:solidFill>
            <a:schemeClr val="tx1">
              <a:lumMod val="50000"/>
              <a:lumOff val="50000"/>
            </a:schemeClr>
          </a:solidFill>
          <a:effectLst/>
          <a:latin typeface="原ノ味角ゴシック Medium" panose="020B0600000000000000" pitchFamily="34" charset="-128"/>
          <a:ea typeface="原ノ味角ゴシック Medium" panose="020B0600000000000000" pitchFamily="34" charset="-128"/>
          <a:cs typeface="+mj-cs"/>
        </a:defRPr>
      </a:lvl1pPr>
    </p:titleStyle>
    <p:bodyStyle>
      <a:lvl1pPr marL="257168" indent="-257168" algn="l" defTabSz="685783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199" indent="-214308" algn="l" defTabSz="685783" rtl="0" eaLnBrk="1" latinLnBrk="0" hangingPunct="1">
        <a:spcBef>
          <a:spcPct val="20000"/>
        </a:spcBef>
        <a:buFont typeface="Arial" pitchFamily="34" charset="0"/>
        <a:buChar char="–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spcBef>
          <a:spcPct val="20000"/>
        </a:spcBef>
        <a:buFont typeface="Arial" pitchFamily="34" charset="0"/>
        <a:buChar char="–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spcBef>
          <a:spcPct val="20000"/>
        </a:spcBef>
        <a:buFont typeface="Arial" pitchFamily="34" charset="0"/>
        <a:buChar char="»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432656" y="2693987"/>
            <a:ext cx="8278688" cy="1470025"/>
          </a:xfrm>
        </p:spPr>
        <p:txBody>
          <a:bodyPr>
            <a:normAutofit fontScale="90000"/>
          </a:bodyPr>
          <a:lstStyle/>
          <a:p>
            <a:pPr algn="ctr"/>
            <a:r>
              <a:rPr lang="ja-JP" altLang="en-US" dirty="0"/>
              <a:t>数値解析用プログラミング言語と連動したアニメーション図説フレームワークの開発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259632" y="5733256"/>
            <a:ext cx="66247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情報デザイン・コミュニケーション工学コース</a:t>
            </a:r>
            <a:endParaRPr lang="en-US" altLang="ja-JP" sz="24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r>
              <a:rPr lang="ja-JP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数理波動システム研究室　　　西村　美春</a:t>
            </a:r>
            <a:endParaRPr lang="en-US" altLang="ja-JP" sz="24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4209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2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研究背景</a:t>
            </a: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4559286A-2C26-45EA-B028-B5F6A664A236}"/>
              </a:ext>
            </a:extLst>
          </p:cNvPr>
          <p:cNvGrpSpPr/>
          <p:nvPr/>
        </p:nvGrpSpPr>
        <p:grpSpPr>
          <a:xfrm>
            <a:off x="395536" y="1253395"/>
            <a:ext cx="5910021" cy="369332"/>
            <a:chOff x="562931" y="1428431"/>
            <a:chExt cx="5910021" cy="369332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F0BB8A0A-6879-42EF-AA3A-2261DDE55198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E83A19EF-9C00-4FB2-8AD4-D11D42F1D6F5}"/>
                </a:ext>
              </a:extLst>
            </p:cNvPr>
            <p:cNvSpPr txBox="1"/>
            <p:nvPr/>
          </p:nvSpPr>
          <p:spPr>
            <a:xfrm>
              <a:off x="669760" y="1428431"/>
              <a:ext cx="58031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既存のプレゼンテーションツール（例：</a:t>
              </a:r>
              <a:r>
                <a:rPr lang="en-US" altLang="ja-JP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PowerPoint</a:t>
              </a:r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）</a:t>
              </a:r>
            </a:p>
          </p:txBody>
        </p:sp>
      </p:grp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2667E47-9FA8-4308-AE40-55C4921236B9}"/>
              </a:ext>
            </a:extLst>
          </p:cNvPr>
          <p:cNvSpPr/>
          <p:nvPr/>
        </p:nvSpPr>
        <p:spPr>
          <a:xfrm>
            <a:off x="539552" y="4504966"/>
            <a:ext cx="8064896" cy="1954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dirty="0">
                <a:solidFill>
                  <a:schemeClr val="bg1">
                    <a:lumMod val="75000"/>
                  </a:schemeClr>
                </a:solidFill>
              </a:rPr>
              <a:t>PowerPoint</a:t>
            </a:r>
            <a:r>
              <a:rPr kumimoji="1" lang="ja-JP" altLang="en-US" dirty="0">
                <a:solidFill>
                  <a:schemeClr val="bg1">
                    <a:lumMod val="75000"/>
                  </a:schemeClr>
                </a:solidFill>
              </a:rPr>
              <a:t>を用いたアニメーション作成手順の例</a:t>
            </a:r>
            <a:endParaRPr kumimoji="1" lang="en-US" altLang="ja-JP" dirty="0">
              <a:solidFill>
                <a:schemeClr val="bg1">
                  <a:lumMod val="75000"/>
                </a:schemeClr>
              </a:solidFill>
            </a:endParaRPr>
          </a:p>
          <a:p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218F084-8387-449C-91A6-7729D6397B2B}"/>
              </a:ext>
            </a:extLst>
          </p:cNvPr>
          <p:cNvSpPr txBox="1"/>
          <p:nvPr/>
        </p:nvSpPr>
        <p:spPr>
          <a:xfrm>
            <a:off x="539552" y="1622727"/>
            <a:ext cx="8352928" cy="3338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ja-JP" altLang="en-US" dirty="0"/>
              <a:t>正確な図の作成が困難</a:t>
            </a:r>
            <a:endParaRPr kumimoji="1" lang="en-US" altLang="ja-JP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ja-JP" altLang="en-US" dirty="0"/>
              <a:t>マウス操作でコンテンツ・タイムラインの配置、同じようなアニメーションでも個別に作成が必要（流用しにくい）</a:t>
            </a:r>
            <a:endParaRPr lang="en-US" altLang="ja-JP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ja-JP" altLang="en-US" dirty="0"/>
              <a:t>数値解析ソフト、画像編集ソフト、動画編集ソフト、音声合成ソフト</a:t>
            </a:r>
            <a:endParaRPr lang="en-US" altLang="ja-JP" dirty="0"/>
          </a:p>
          <a:p>
            <a:pPr>
              <a:lnSpc>
                <a:spcPct val="200000"/>
              </a:lnSpc>
            </a:pPr>
            <a:r>
              <a:rPr lang="ja-JP" altLang="en-US" dirty="0"/>
              <a:t>　→これらの間でデータの変換・やり取りが面倒</a:t>
            </a:r>
            <a:endParaRPr lang="en-US" altLang="ja-JP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73802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054B39CB-D057-4829-9918-B67D6D4905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3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CB7F79C3-A227-4ACF-969F-4BAECD637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Python</a:t>
            </a:r>
            <a:r>
              <a:rPr kumimoji="1" lang="ja-JP" altLang="en-US" dirty="0"/>
              <a:t>の課題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B399607-46E4-446A-9DCF-C420CCEA1EA6}"/>
              </a:ext>
            </a:extLst>
          </p:cNvPr>
          <p:cNvSpPr txBox="1"/>
          <p:nvPr/>
        </p:nvSpPr>
        <p:spPr>
          <a:xfrm>
            <a:off x="500616" y="1894808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数式やグラフをアニメーションとして動画化</a:t>
            </a: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6956E423-57AA-4DD2-8EC6-FE6A5A67368E}"/>
              </a:ext>
            </a:extLst>
          </p:cNvPr>
          <p:cNvGrpSpPr/>
          <p:nvPr/>
        </p:nvGrpSpPr>
        <p:grpSpPr>
          <a:xfrm>
            <a:off x="395536" y="1246107"/>
            <a:ext cx="1044906" cy="369332"/>
            <a:chOff x="562931" y="1428431"/>
            <a:chExt cx="1044906" cy="369332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C02A7176-F255-4C21-99E2-493B1317893C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7851897E-C448-4E7D-B480-7455D51A95F1}"/>
                </a:ext>
              </a:extLst>
            </p:cNvPr>
            <p:cNvSpPr txBox="1"/>
            <p:nvPr/>
          </p:nvSpPr>
          <p:spPr>
            <a:xfrm>
              <a:off x="669760" y="1428431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Manim</a:t>
              </a:r>
              <a:endPara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F1ED8C2-E96B-4DBF-96B1-B9F06D385ABE}"/>
              </a:ext>
            </a:extLst>
          </p:cNvPr>
          <p:cNvSpPr/>
          <p:nvPr/>
        </p:nvSpPr>
        <p:spPr>
          <a:xfrm>
            <a:off x="489871" y="2569284"/>
            <a:ext cx="8064896" cy="1173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dirty="0"/>
              <a:t>イメージ図</a:t>
            </a:r>
            <a:endParaRPr kumimoji="1" lang="en-US" altLang="ja-JP" dirty="0"/>
          </a:p>
          <a:p>
            <a:r>
              <a:rPr lang="en-US" altLang="ja-JP" dirty="0"/>
              <a:t>Python</a:t>
            </a:r>
            <a:r>
              <a:rPr lang="ja-JP" altLang="en-US" dirty="0"/>
              <a:t>　コード書く　→　</a:t>
            </a:r>
            <a:r>
              <a:rPr lang="en-US" altLang="ja-JP" dirty="0" err="1"/>
              <a:t>Manim</a:t>
            </a:r>
            <a:r>
              <a:rPr lang="ja-JP" altLang="en-US" dirty="0"/>
              <a:t>　動画化</a:t>
            </a:r>
            <a:endParaRPr lang="en-US" altLang="ja-JP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F9DEE9F-5980-4EF4-AA97-D10193572D7C}"/>
              </a:ext>
            </a:extLst>
          </p:cNvPr>
          <p:cNvSpPr txBox="1"/>
          <p:nvPr/>
        </p:nvSpPr>
        <p:spPr>
          <a:xfrm>
            <a:off x="506129" y="4696652"/>
            <a:ext cx="5032147" cy="11169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ja-JP" altLang="en-US" dirty="0"/>
              <a:t>インタープリタ言語</a:t>
            </a:r>
            <a:r>
              <a:rPr kumimoji="1" lang="ja-JP" altLang="en-US" dirty="0"/>
              <a:t>のため</a:t>
            </a:r>
            <a:r>
              <a:rPr kumimoji="1" lang="ja-JP" altLang="en-US" dirty="0">
                <a:solidFill>
                  <a:srgbClr val="FF0000"/>
                </a:solidFill>
              </a:rPr>
              <a:t>実行が遅い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pPr>
              <a:lnSpc>
                <a:spcPct val="200000"/>
              </a:lnSpc>
            </a:pPr>
            <a:r>
              <a:rPr lang="ja-JP" altLang="en-US" dirty="0"/>
              <a:t>→複雑な図形や数式だと処理時間が膨大になる</a:t>
            </a:r>
            <a:endParaRPr kumimoji="1" lang="ja-JP" altLang="en-US" dirty="0"/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DF6927B9-2DCF-4398-8BC8-977EC4C635BE}"/>
              </a:ext>
            </a:extLst>
          </p:cNvPr>
          <p:cNvGrpSpPr/>
          <p:nvPr/>
        </p:nvGrpSpPr>
        <p:grpSpPr>
          <a:xfrm>
            <a:off x="370433" y="4045201"/>
            <a:ext cx="2933244" cy="369332"/>
            <a:chOff x="562931" y="1428431"/>
            <a:chExt cx="2933244" cy="369332"/>
          </a:xfrm>
        </p:grpSpPr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F3A4ABAD-3FD2-42A5-BEF4-BFE272C78F72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FC67D7E7-BEE4-46D2-94EC-EDEFB9649817}"/>
                </a:ext>
              </a:extLst>
            </p:cNvPr>
            <p:cNvSpPr txBox="1"/>
            <p:nvPr/>
          </p:nvSpPr>
          <p:spPr>
            <a:xfrm>
              <a:off x="669760" y="1428431"/>
              <a:ext cx="28264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Python</a:t>
              </a:r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では不十分な理由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4630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4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研究目的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D6775146-4AF3-4AB4-BF48-603F9BA16B06}"/>
              </a:ext>
            </a:extLst>
          </p:cNvPr>
          <p:cNvGrpSpPr/>
          <p:nvPr/>
        </p:nvGrpSpPr>
        <p:grpSpPr>
          <a:xfrm>
            <a:off x="395536" y="1246107"/>
            <a:ext cx="4677311" cy="369332"/>
            <a:chOff x="562931" y="1428431"/>
            <a:chExt cx="4677311" cy="369332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66F2C151-43EF-422C-806B-D280D186140B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65CCBC1C-3F80-4404-BDF6-C79706DDE1FC}"/>
                </a:ext>
              </a:extLst>
            </p:cNvPr>
            <p:cNvSpPr txBox="1"/>
            <p:nvPr/>
          </p:nvSpPr>
          <p:spPr>
            <a:xfrm>
              <a:off x="669760" y="1428431"/>
              <a:ext cx="45704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授業スライド作成における作業負担の軽減</a:t>
              </a:r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E8914F37-8778-4DF8-B46F-B5092249F989}"/>
              </a:ext>
            </a:extLst>
          </p:cNvPr>
          <p:cNvGrpSpPr/>
          <p:nvPr/>
        </p:nvGrpSpPr>
        <p:grpSpPr>
          <a:xfrm>
            <a:off x="395536" y="2201565"/>
            <a:ext cx="3523149" cy="369332"/>
            <a:chOff x="562931" y="2010458"/>
            <a:chExt cx="3523149" cy="369332"/>
          </a:xfrm>
        </p:grpSpPr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E6679751-CAD3-4A87-80F0-0E3E35DE472C}"/>
                </a:ext>
              </a:extLst>
            </p:cNvPr>
            <p:cNvCxnSpPr>
              <a:cxnSpLocks/>
            </p:cNvCxnSpPr>
            <p:nvPr/>
          </p:nvCxnSpPr>
          <p:spPr>
            <a:xfrm>
              <a:off x="562931" y="2359736"/>
              <a:ext cx="3523149" cy="0"/>
            </a:xfrm>
            <a:prstGeom prst="line">
              <a:avLst/>
            </a:prstGeom>
            <a:ln w="12700">
              <a:solidFill>
                <a:srgbClr val="337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6E767357-4987-4D61-8E98-717DC7BC5CF6}"/>
                </a:ext>
              </a:extLst>
            </p:cNvPr>
            <p:cNvSpPr/>
            <p:nvPr/>
          </p:nvSpPr>
          <p:spPr>
            <a:xfrm>
              <a:off x="562931" y="203601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11F39D0D-33AF-4DFB-B396-541EB77E0659}"/>
                </a:ext>
              </a:extLst>
            </p:cNvPr>
            <p:cNvSpPr txBox="1"/>
            <p:nvPr/>
          </p:nvSpPr>
          <p:spPr>
            <a:xfrm>
              <a:off x="669760" y="2010458"/>
              <a:ext cx="3416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図形位置、大きさを数値で制御</a:t>
              </a:r>
            </a:p>
          </p:txBody>
        </p:sp>
      </p:grp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83A73039-7739-4F88-9103-54654C56583E}"/>
              </a:ext>
            </a:extLst>
          </p:cNvPr>
          <p:cNvSpPr/>
          <p:nvPr/>
        </p:nvSpPr>
        <p:spPr>
          <a:xfrm>
            <a:off x="395536" y="2850607"/>
            <a:ext cx="3816424" cy="36747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ja-JP" dirty="0"/>
              <a:t>h</a:t>
            </a:r>
            <a:r>
              <a:rPr kumimoji="1" lang="en-US" altLang="ja-JP" dirty="0"/>
              <a:t>tml</a:t>
            </a:r>
            <a:r>
              <a:rPr kumimoji="1" lang="ja-JP" altLang="en-US" dirty="0"/>
              <a:t>の画像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682BF372-C515-4884-858D-CDC2341E818B}"/>
              </a:ext>
            </a:extLst>
          </p:cNvPr>
          <p:cNvSpPr/>
          <p:nvPr/>
        </p:nvSpPr>
        <p:spPr>
          <a:xfrm>
            <a:off x="4932042" y="2850606"/>
            <a:ext cx="3816424" cy="36747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dirty="0"/>
              <a:t>html</a:t>
            </a:r>
            <a:r>
              <a:rPr kumimoji="1" lang="ja-JP" altLang="en-US" dirty="0"/>
              <a:t>の画像</a:t>
            </a:r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E3EBD214-C020-47F8-A9BC-D946F728AF41}"/>
              </a:ext>
            </a:extLst>
          </p:cNvPr>
          <p:cNvGrpSpPr/>
          <p:nvPr/>
        </p:nvGrpSpPr>
        <p:grpSpPr>
          <a:xfrm>
            <a:off x="4732431" y="2201807"/>
            <a:ext cx="4215646" cy="369332"/>
            <a:chOff x="562931" y="2010458"/>
            <a:chExt cx="4215646" cy="369332"/>
          </a:xfrm>
        </p:grpSpPr>
        <p:cxnSp>
          <p:nvCxnSpPr>
            <p:cNvPr id="35" name="直線コネクタ 34">
              <a:extLst>
                <a:ext uri="{FF2B5EF4-FFF2-40B4-BE49-F238E27FC236}">
                  <a16:creationId xmlns:a16="http://schemas.microsoft.com/office/drawing/2014/main" id="{FB7480C0-ED6D-425A-AB8F-1CE8C3962416}"/>
                </a:ext>
              </a:extLst>
            </p:cNvPr>
            <p:cNvCxnSpPr>
              <a:cxnSpLocks/>
            </p:cNvCxnSpPr>
            <p:nvPr/>
          </p:nvCxnSpPr>
          <p:spPr>
            <a:xfrm>
              <a:off x="562931" y="2359736"/>
              <a:ext cx="4215646" cy="0"/>
            </a:xfrm>
            <a:prstGeom prst="line">
              <a:avLst/>
            </a:prstGeom>
            <a:ln w="12700">
              <a:solidFill>
                <a:srgbClr val="337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50959C58-5EC3-4560-8861-DEE3FF6072FA}"/>
                </a:ext>
              </a:extLst>
            </p:cNvPr>
            <p:cNvSpPr/>
            <p:nvPr/>
          </p:nvSpPr>
          <p:spPr>
            <a:xfrm>
              <a:off x="562931" y="203601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AEEA37A1-5247-4479-A4F9-6C68102A3364}"/>
                </a:ext>
              </a:extLst>
            </p:cNvPr>
            <p:cNvSpPr txBox="1"/>
            <p:nvPr/>
          </p:nvSpPr>
          <p:spPr>
            <a:xfrm>
              <a:off x="669760" y="2010458"/>
              <a:ext cx="41088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波形などのアニメーションを簡単描画</a:t>
              </a:r>
            </a:p>
          </p:txBody>
        </p:sp>
      </p:grp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5107CA7-1BD6-4A64-B339-5F2BCE9CB258}"/>
              </a:ext>
            </a:extLst>
          </p:cNvPr>
          <p:cNvSpPr txBox="1"/>
          <p:nvPr/>
        </p:nvSpPr>
        <p:spPr>
          <a:xfrm>
            <a:off x="502365" y="1702406"/>
            <a:ext cx="824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→</a:t>
            </a:r>
            <a:r>
              <a:rPr lang="ja-JP" altLang="en-US" dirty="0"/>
              <a:t>一つのソースファイルを編集するだけでアニメーション作成を可能にする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13220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66F00990-649D-4537-9AC3-C4C50AE023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5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B57986-AFFD-497B-8118-D34A25A77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解決策</a:t>
            </a:r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F1BB26C-D87C-B673-7D3A-1D623EB4BEA4}"/>
              </a:ext>
            </a:extLst>
          </p:cNvPr>
          <p:cNvSpPr/>
          <p:nvPr/>
        </p:nvSpPr>
        <p:spPr>
          <a:xfrm>
            <a:off x="395536" y="1259570"/>
            <a:ext cx="8352928" cy="52657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dirty="0"/>
              <a:t>図</a:t>
            </a:r>
            <a:endParaRPr lang="en-US" altLang="ja-JP" dirty="0"/>
          </a:p>
          <a:p>
            <a:r>
              <a:rPr kumimoji="1" lang="en-US" altLang="ja-JP" dirty="0" err="1"/>
              <a:t>Aqualis</a:t>
            </a:r>
            <a:r>
              <a:rPr lang="ja-JP" altLang="en-US" dirty="0"/>
              <a:t>を</a:t>
            </a:r>
            <a:r>
              <a:rPr kumimoji="1" lang="en-US" altLang="ja-JP" dirty="0"/>
              <a:t>C</a:t>
            </a:r>
            <a:r>
              <a:rPr kumimoji="1" lang="ja-JP" altLang="en-US" dirty="0"/>
              <a:t>言語や</a:t>
            </a:r>
            <a:r>
              <a:rPr kumimoji="1" lang="en-US" altLang="ja-JP" dirty="0"/>
              <a:t>Fortran</a:t>
            </a:r>
            <a:r>
              <a:rPr kumimoji="1" lang="ja-JP" altLang="en-US" dirty="0"/>
              <a:t>に変換している図</a:t>
            </a:r>
            <a:endParaRPr kumimoji="1" lang="en-US" altLang="ja-JP" dirty="0"/>
          </a:p>
          <a:p>
            <a:r>
              <a:rPr lang="ja-JP" altLang="en-US" dirty="0"/>
              <a:t>北原さんのスライド</a:t>
            </a:r>
            <a:r>
              <a:rPr lang="en-US" altLang="ja-JP" dirty="0"/>
              <a:t>5</a:t>
            </a:r>
            <a:r>
              <a:rPr lang="ja-JP" altLang="en-US" dirty="0"/>
              <a:t>のような図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332422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8F226C3F-04DD-13C9-56A2-86DB260A48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6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EABA9C4E-B86E-4E55-3FAB-7ECCDED0D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原理</a:t>
            </a: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0959A9C3-B6F0-44AC-A518-0DE34C5D550B}"/>
              </a:ext>
            </a:extLst>
          </p:cNvPr>
          <p:cNvGrpSpPr/>
          <p:nvPr/>
        </p:nvGrpSpPr>
        <p:grpSpPr>
          <a:xfrm>
            <a:off x="395536" y="1246107"/>
            <a:ext cx="1676489" cy="369332"/>
            <a:chOff x="562931" y="1428431"/>
            <a:chExt cx="1676489" cy="369332"/>
          </a:xfrm>
        </p:grpSpPr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0391DE90-3F2A-44FD-8DAD-FC7CBDE18B0F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7309877C-1380-4BEF-A068-CA2AFB76193B}"/>
                </a:ext>
              </a:extLst>
            </p:cNvPr>
            <p:cNvSpPr txBox="1"/>
            <p:nvPr/>
          </p:nvSpPr>
          <p:spPr>
            <a:xfrm>
              <a:off x="669760" y="1428431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ソースコード</a:t>
              </a:r>
            </a:p>
          </p:txBody>
        </p:sp>
      </p:grp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8680D10-367F-46CD-AEAD-8597394381D6}"/>
              </a:ext>
            </a:extLst>
          </p:cNvPr>
          <p:cNvSpPr txBox="1"/>
          <p:nvPr/>
        </p:nvSpPr>
        <p:spPr>
          <a:xfrm>
            <a:off x="506078" y="1894808"/>
            <a:ext cx="6164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Aqualis</a:t>
            </a:r>
            <a:r>
              <a:rPr kumimoji="1" lang="ja-JP" altLang="en-US" dirty="0"/>
              <a:t>でコード記述　→　</a:t>
            </a:r>
            <a:r>
              <a:rPr kumimoji="1" lang="en-US" altLang="ja-JP" dirty="0"/>
              <a:t>HTML</a:t>
            </a:r>
            <a:r>
              <a:rPr kumimoji="1" lang="ja-JP" altLang="en-US" dirty="0"/>
              <a:t>、</a:t>
            </a:r>
            <a:r>
              <a:rPr kumimoji="1" lang="en-US" altLang="ja-JP" dirty="0"/>
              <a:t>JavaScript</a:t>
            </a:r>
            <a:r>
              <a:rPr kumimoji="1" lang="ja-JP" altLang="en-US" dirty="0"/>
              <a:t>を自動生成</a:t>
            </a:r>
          </a:p>
        </p:txBody>
      </p:sp>
    </p:spTree>
    <p:extLst>
      <p:ext uri="{BB962C8B-B14F-4D97-AF65-F5344CB8AC3E}">
        <p14:creationId xmlns:p14="http://schemas.microsoft.com/office/powerpoint/2010/main" val="207691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7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アニメーション制御の実装</a:t>
            </a:r>
            <a:endParaRPr kumimoji="1" lang="ja-JP" altLang="en-US" dirty="0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403A1424-9F77-49AA-8B4C-442C914F1FB3}"/>
              </a:ext>
            </a:extLst>
          </p:cNvPr>
          <p:cNvGrpSpPr/>
          <p:nvPr/>
        </p:nvGrpSpPr>
        <p:grpSpPr>
          <a:xfrm>
            <a:off x="406107" y="1246107"/>
            <a:ext cx="1445657" cy="369332"/>
            <a:chOff x="562931" y="1428431"/>
            <a:chExt cx="1445657" cy="369332"/>
          </a:xfrm>
        </p:grpSpPr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5A797DC4-2BD1-4DB1-AA02-45BC9E32BDF4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E109EC40-97AB-4CF9-B185-5DD0C15B08A9}"/>
                </a:ext>
              </a:extLst>
            </p:cNvPr>
            <p:cNvSpPr txBox="1"/>
            <p:nvPr/>
          </p:nvSpPr>
          <p:spPr>
            <a:xfrm>
              <a:off x="669760" y="1428431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ボタン表示</a:t>
              </a:r>
            </a:p>
          </p:txBody>
        </p:sp>
      </p:grp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C2EA1A1-5691-4C69-B10D-32953132621B}"/>
              </a:ext>
            </a:extLst>
          </p:cNvPr>
          <p:cNvSpPr/>
          <p:nvPr/>
        </p:nvSpPr>
        <p:spPr>
          <a:xfrm>
            <a:off x="447275" y="1917616"/>
            <a:ext cx="3576006" cy="46077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dirty="0"/>
              <a:t>コード貼る</a:t>
            </a:r>
            <a:endParaRPr kumimoji="1" lang="en-US" altLang="ja-JP" dirty="0"/>
          </a:p>
          <a:p>
            <a:r>
              <a:rPr lang="ja-JP" altLang="en-US" dirty="0"/>
              <a:t>ボタンを表示するコード</a:t>
            </a:r>
            <a:endParaRPr kumimoji="1" lang="en-US" altLang="ja-JP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60A7632-AD39-4D83-AECF-F3D6D09C8049}"/>
              </a:ext>
            </a:extLst>
          </p:cNvPr>
          <p:cNvSpPr/>
          <p:nvPr/>
        </p:nvSpPr>
        <p:spPr>
          <a:xfrm>
            <a:off x="5120319" y="1917616"/>
            <a:ext cx="3576006" cy="46077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dirty="0"/>
              <a:t>ボタンが表示されている画像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188798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8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アニメーション制御の実装</a:t>
            </a:r>
            <a:endParaRPr kumimoji="1" lang="ja-JP" altLang="en-US" dirty="0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403A1424-9F77-49AA-8B4C-442C914F1FB3}"/>
              </a:ext>
            </a:extLst>
          </p:cNvPr>
          <p:cNvGrpSpPr/>
          <p:nvPr/>
        </p:nvGrpSpPr>
        <p:grpSpPr>
          <a:xfrm>
            <a:off x="406107" y="1246107"/>
            <a:ext cx="1907322" cy="369332"/>
            <a:chOff x="562931" y="1428431"/>
            <a:chExt cx="1907322" cy="369332"/>
          </a:xfrm>
        </p:grpSpPr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5A797DC4-2BD1-4DB1-AA02-45BC9E32BDF4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E109EC40-97AB-4CF9-B185-5DD0C15B08A9}"/>
                </a:ext>
              </a:extLst>
            </p:cNvPr>
            <p:cNvSpPr txBox="1"/>
            <p:nvPr/>
          </p:nvSpPr>
          <p:spPr>
            <a:xfrm>
              <a:off x="669760" y="1428431"/>
              <a:ext cx="1800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各ボタンの動作</a:t>
              </a:r>
            </a:p>
          </p:txBody>
        </p:sp>
      </p:grp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C2EA1A1-5691-4C69-B10D-32953132621B}"/>
              </a:ext>
            </a:extLst>
          </p:cNvPr>
          <p:cNvSpPr/>
          <p:nvPr/>
        </p:nvSpPr>
        <p:spPr>
          <a:xfrm>
            <a:off x="447275" y="1917616"/>
            <a:ext cx="3576006" cy="46077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dirty="0"/>
              <a:t>コード貼る</a:t>
            </a:r>
            <a:endParaRPr kumimoji="1" lang="en-US" altLang="ja-JP" dirty="0"/>
          </a:p>
          <a:p>
            <a:r>
              <a:rPr lang="ja-JP" altLang="en-US" dirty="0"/>
              <a:t>ボタンの動作を説明するコード</a:t>
            </a:r>
            <a:endParaRPr kumimoji="1" lang="en-US" altLang="ja-JP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60A7632-AD39-4D83-AECF-F3D6D09C8049}"/>
              </a:ext>
            </a:extLst>
          </p:cNvPr>
          <p:cNvSpPr/>
          <p:nvPr/>
        </p:nvSpPr>
        <p:spPr>
          <a:xfrm>
            <a:off x="5120719" y="1917616"/>
            <a:ext cx="3576006" cy="46077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dirty="0"/>
              <a:t>コード貼る</a:t>
            </a:r>
            <a:endParaRPr kumimoji="1" lang="en-US" altLang="ja-JP" dirty="0"/>
          </a:p>
          <a:p>
            <a:r>
              <a:rPr lang="ja-JP" altLang="en-US" dirty="0"/>
              <a:t>動かしている画像か動画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195660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9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図形・テキスト・画像のアニメーション制御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5E71E24-E275-4AB4-94F7-4835B72DA1AB}"/>
              </a:ext>
            </a:extLst>
          </p:cNvPr>
          <p:cNvSpPr/>
          <p:nvPr/>
        </p:nvSpPr>
        <p:spPr>
          <a:xfrm>
            <a:off x="539552" y="1246107"/>
            <a:ext cx="8064895" cy="527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dirty="0"/>
              <a:t>コード貼る</a:t>
            </a:r>
            <a:endParaRPr kumimoji="1" lang="en-US" altLang="ja-JP" dirty="0"/>
          </a:p>
          <a:p>
            <a:r>
              <a:rPr lang="ja-JP" altLang="en-US" dirty="0"/>
              <a:t>線を描くコードの説明（定義のほう　</a:t>
            </a:r>
            <a:r>
              <a:rPr lang="en-US" altLang="ja-JP" dirty="0"/>
              <a:t>.fs</a:t>
            </a:r>
            <a:r>
              <a:rPr lang="ja-JP" altLang="en-US" dirty="0"/>
              <a:t>）</a:t>
            </a:r>
            <a:endParaRPr lang="en-US" altLang="ja-JP" dirty="0"/>
          </a:p>
          <a:p>
            <a:r>
              <a:rPr lang="ja-JP" altLang="en-US" dirty="0"/>
              <a:t>どのように時間を制御しているか</a:t>
            </a:r>
            <a:endParaRPr lang="en-US" altLang="ja-JP" dirty="0"/>
          </a:p>
          <a:p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361081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10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図形・テキスト・画像のアニメーション制御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5E71E24-E275-4AB4-94F7-4835B72DA1AB}"/>
              </a:ext>
            </a:extLst>
          </p:cNvPr>
          <p:cNvSpPr/>
          <p:nvPr/>
        </p:nvSpPr>
        <p:spPr>
          <a:xfrm>
            <a:off x="447275" y="1917616"/>
            <a:ext cx="3576006" cy="46077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dirty="0"/>
              <a:t>コード貼る</a:t>
            </a:r>
            <a:endParaRPr kumimoji="1" lang="en-US" altLang="ja-JP" dirty="0"/>
          </a:p>
          <a:p>
            <a:r>
              <a:rPr kumimoji="1" lang="ja-JP" altLang="en-US" dirty="0"/>
              <a:t>波形アニメーションのコード</a:t>
            </a:r>
            <a:endParaRPr kumimoji="1" lang="en-US" altLang="ja-JP" dirty="0"/>
          </a:p>
          <a:p>
            <a:r>
              <a:rPr kumimoji="1" lang="ja-JP" altLang="en-US" dirty="0"/>
              <a:t>（実際に動画を作成する際に使用するほう　</a:t>
            </a:r>
            <a:r>
              <a:rPr kumimoji="1" lang="en-US" altLang="ja-JP" dirty="0" err="1"/>
              <a:t>fsx</a:t>
            </a:r>
            <a:r>
              <a:rPr kumimoji="1" lang="ja-JP" altLang="en-US" dirty="0"/>
              <a:t>ファイル）</a:t>
            </a:r>
            <a:endParaRPr kumimoji="1" lang="en-US" altLang="ja-JP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1261CC49-ACFC-425C-B7EF-BE2B07BBE518}"/>
              </a:ext>
            </a:extLst>
          </p:cNvPr>
          <p:cNvGrpSpPr/>
          <p:nvPr/>
        </p:nvGrpSpPr>
        <p:grpSpPr>
          <a:xfrm>
            <a:off x="395536" y="1246107"/>
            <a:ext cx="2599819" cy="369332"/>
            <a:chOff x="562931" y="1428431"/>
            <a:chExt cx="2599819" cy="369332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6F656F7F-0C6F-4390-BEB2-1240E1FC5CE1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B75DE23D-9A57-42EA-9D15-170A8CF9DA11}"/>
                </a:ext>
              </a:extLst>
            </p:cNvPr>
            <p:cNvSpPr txBox="1"/>
            <p:nvPr/>
          </p:nvSpPr>
          <p:spPr>
            <a:xfrm>
              <a:off x="669760" y="1428431"/>
              <a:ext cx="2492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波形のアニメーション</a:t>
              </a:r>
            </a:p>
          </p:txBody>
        </p:sp>
      </p:grp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9B1D8FB-BB65-4298-A00A-83121C9DAAA1}"/>
              </a:ext>
            </a:extLst>
          </p:cNvPr>
          <p:cNvSpPr/>
          <p:nvPr/>
        </p:nvSpPr>
        <p:spPr>
          <a:xfrm>
            <a:off x="5120721" y="1924196"/>
            <a:ext cx="3576006" cy="46077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dirty="0"/>
              <a:t>表示される画像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966974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11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図形・テキスト・画像のアニメーション制御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5E71E24-E275-4AB4-94F7-4835B72DA1AB}"/>
              </a:ext>
            </a:extLst>
          </p:cNvPr>
          <p:cNvSpPr/>
          <p:nvPr/>
        </p:nvSpPr>
        <p:spPr>
          <a:xfrm>
            <a:off x="442703" y="2577258"/>
            <a:ext cx="3576006" cy="14640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dirty="0"/>
              <a:t>コード貼る</a:t>
            </a:r>
            <a:endParaRPr kumimoji="1" lang="en-US" altLang="ja-JP" dirty="0"/>
          </a:p>
          <a:p>
            <a:r>
              <a:rPr kumimoji="1" lang="ja-JP" altLang="en-US" dirty="0"/>
              <a:t>図形アニメーションのコード</a:t>
            </a:r>
            <a:endParaRPr kumimoji="1" lang="en-US" altLang="ja-JP" dirty="0"/>
          </a:p>
          <a:p>
            <a:r>
              <a:rPr lang="ja-JP" altLang="en-US" dirty="0"/>
              <a:t>線形、</a:t>
            </a:r>
            <a:endParaRPr kumimoji="1" lang="en-US" altLang="ja-JP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1261CC49-ACFC-425C-B7EF-BE2B07BBE518}"/>
              </a:ext>
            </a:extLst>
          </p:cNvPr>
          <p:cNvGrpSpPr/>
          <p:nvPr/>
        </p:nvGrpSpPr>
        <p:grpSpPr>
          <a:xfrm>
            <a:off x="395536" y="1246107"/>
            <a:ext cx="2599819" cy="369332"/>
            <a:chOff x="562931" y="1428431"/>
            <a:chExt cx="2599819" cy="369332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6F656F7F-0C6F-4390-BEB2-1240E1FC5CE1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B75DE23D-9A57-42EA-9D15-170A8CF9DA11}"/>
                </a:ext>
              </a:extLst>
            </p:cNvPr>
            <p:cNvSpPr txBox="1"/>
            <p:nvPr/>
          </p:nvSpPr>
          <p:spPr>
            <a:xfrm>
              <a:off x="669760" y="1428431"/>
              <a:ext cx="2492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図形のアニメーション</a:t>
              </a:r>
            </a:p>
          </p:txBody>
        </p: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7A5E21FB-26F7-0E0C-8E06-181A2CBFBB91}"/>
              </a:ext>
            </a:extLst>
          </p:cNvPr>
          <p:cNvGrpSpPr/>
          <p:nvPr/>
        </p:nvGrpSpPr>
        <p:grpSpPr>
          <a:xfrm>
            <a:off x="395536" y="1894808"/>
            <a:ext cx="753160" cy="369332"/>
            <a:chOff x="562931" y="2010458"/>
            <a:chExt cx="753160" cy="369332"/>
          </a:xfrm>
        </p:grpSpPr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08DEE4E6-3940-88EF-89BF-12174FE1C878}"/>
                </a:ext>
              </a:extLst>
            </p:cNvPr>
            <p:cNvCxnSpPr>
              <a:cxnSpLocks/>
            </p:cNvCxnSpPr>
            <p:nvPr/>
          </p:nvCxnSpPr>
          <p:spPr>
            <a:xfrm>
              <a:off x="562931" y="2359736"/>
              <a:ext cx="753160" cy="0"/>
            </a:xfrm>
            <a:prstGeom prst="line">
              <a:avLst/>
            </a:prstGeom>
            <a:ln w="12700">
              <a:solidFill>
                <a:srgbClr val="337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D7CE3338-CB36-8B19-3E55-B906A69E2CCD}"/>
                </a:ext>
              </a:extLst>
            </p:cNvPr>
            <p:cNvSpPr/>
            <p:nvPr/>
          </p:nvSpPr>
          <p:spPr>
            <a:xfrm>
              <a:off x="562931" y="203601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A0F9A119-133F-17F0-EF6F-CAF6FA1BE396}"/>
                </a:ext>
              </a:extLst>
            </p:cNvPr>
            <p:cNvSpPr txBox="1"/>
            <p:nvPr/>
          </p:nvSpPr>
          <p:spPr>
            <a:xfrm>
              <a:off x="669760" y="2010458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線形</a:t>
              </a:r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62A34606-EB0C-845A-8419-A29D710A6BC5}"/>
              </a:ext>
            </a:extLst>
          </p:cNvPr>
          <p:cNvGrpSpPr/>
          <p:nvPr/>
        </p:nvGrpSpPr>
        <p:grpSpPr>
          <a:xfrm>
            <a:off x="395536" y="4363504"/>
            <a:ext cx="753160" cy="369332"/>
            <a:chOff x="562931" y="2010458"/>
            <a:chExt cx="753160" cy="369332"/>
          </a:xfrm>
        </p:grpSpPr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6819914C-269E-CFC8-AB9A-89F287CA423B}"/>
                </a:ext>
              </a:extLst>
            </p:cNvPr>
            <p:cNvCxnSpPr>
              <a:cxnSpLocks/>
            </p:cNvCxnSpPr>
            <p:nvPr/>
          </p:nvCxnSpPr>
          <p:spPr>
            <a:xfrm>
              <a:off x="562931" y="2359736"/>
              <a:ext cx="753160" cy="0"/>
            </a:xfrm>
            <a:prstGeom prst="line">
              <a:avLst/>
            </a:prstGeom>
            <a:ln w="12700">
              <a:solidFill>
                <a:srgbClr val="337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FEDC8A6A-7D7E-D923-2FC0-C6FB863673D8}"/>
                </a:ext>
              </a:extLst>
            </p:cNvPr>
            <p:cNvSpPr/>
            <p:nvPr/>
          </p:nvSpPr>
          <p:spPr>
            <a:xfrm>
              <a:off x="562931" y="203601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410F88B0-C0FC-5FB4-ADBD-376D40CC6548}"/>
                </a:ext>
              </a:extLst>
            </p:cNvPr>
            <p:cNvSpPr txBox="1"/>
            <p:nvPr/>
          </p:nvSpPr>
          <p:spPr>
            <a:xfrm>
              <a:off x="669760" y="2010458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円形</a:t>
              </a:r>
            </a:p>
          </p:txBody>
        </p:sp>
      </p:grp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0F679573-6C0C-E467-81CA-3ABBCA3A3F2E}"/>
              </a:ext>
            </a:extLst>
          </p:cNvPr>
          <p:cNvSpPr/>
          <p:nvPr/>
        </p:nvSpPr>
        <p:spPr>
          <a:xfrm>
            <a:off x="442703" y="5036499"/>
            <a:ext cx="3576006" cy="14640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dirty="0"/>
              <a:t>コード貼る</a:t>
            </a:r>
            <a:endParaRPr kumimoji="1" lang="en-US" altLang="ja-JP" dirty="0"/>
          </a:p>
          <a:p>
            <a:r>
              <a:rPr kumimoji="1" lang="ja-JP" altLang="en-US" dirty="0"/>
              <a:t>図形アニメーションのコード</a:t>
            </a:r>
            <a:endParaRPr kumimoji="1" lang="en-US" altLang="ja-JP" dirty="0"/>
          </a:p>
          <a:p>
            <a:r>
              <a:rPr lang="ja-JP" altLang="en-US" dirty="0"/>
              <a:t>円</a:t>
            </a:r>
            <a:endParaRPr kumimoji="1" lang="en-US" altLang="ja-JP" dirty="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5E3865C8-25C4-16C3-2434-C0D12FE1C401}"/>
              </a:ext>
            </a:extLst>
          </p:cNvPr>
          <p:cNvSpPr/>
          <p:nvPr/>
        </p:nvSpPr>
        <p:spPr>
          <a:xfrm>
            <a:off x="5125291" y="2577258"/>
            <a:ext cx="3576006" cy="1465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dirty="0"/>
              <a:t>表示される画像</a:t>
            </a:r>
            <a:endParaRPr kumimoji="1" lang="en-US" altLang="ja-JP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9DE5A7A1-B49A-84E4-7D06-08AE5DC008B0}"/>
              </a:ext>
            </a:extLst>
          </p:cNvPr>
          <p:cNvSpPr/>
          <p:nvPr/>
        </p:nvSpPr>
        <p:spPr>
          <a:xfrm>
            <a:off x="5125291" y="5035312"/>
            <a:ext cx="3576006" cy="1465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dirty="0"/>
              <a:t>表示される画像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325452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12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図形・テキスト・画像のアニメーション制御</a:t>
            </a:r>
            <a:endParaRPr kumimoji="1" lang="ja-JP" altLang="en-US" dirty="0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A8074C97-D031-449A-9360-A2FFC53D00AE}"/>
              </a:ext>
            </a:extLst>
          </p:cNvPr>
          <p:cNvGrpSpPr/>
          <p:nvPr/>
        </p:nvGrpSpPr>
        <p:grpSpPr>
          <a:xfrm>
            <a:off x="395536" y="1246107"/>
            <a:ext cx="8272189" cy="2542933"/>
            <a:chOff x="395536" y="1246107"/>
            <a:chExt cx="8272189" cy="2542933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55E71E24-E275-4AB4-94F7-4835B72DA1AB}"/>
                </a:ext>
              </a:extLst>
            </p:cNvPr>
            <p:cNvSpPr/>
            <p:nvPr/>
          </p:nvSpPr>
          <p:spPr>
            <a:xfrm>
              <a:off x="447275" y="1917616"/>
              <a:ext cx="3576006" cy="18714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kumimoji="1" lang="ja-JP" altLang="en-US" dirty="0"/>
                <a:t>コード貼る</a:t>
              </a:r>
              <a:endParaRPr kumimoji="1" lang="en-US" altLang="ja-JP" dirty="0"/>
            </a:p>
            <a:p>
              <a:r>
                <a:rPr lang="ja-JP" altLang="en-US" dirty="0"/>
                <a:t>テキスト</a:t>
              </a:r>
              <a:r>
                <a:rPr kumimoji="1" lang="ja-JP" altLang="en-US" dirty="0"/>
                <a:t>アニメーションのコード</a:t>
              </a:r>
              <a:endParaRPr kumimoji="1" lang="en-US" altLang="ja-JP" dirty="0"/>
            </a:p>
          </p:txBody>
        </p:sp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1261CC49-ACFC-425C-B7EF-BE2B07BBE518}"/>
                </a:ext>
              </a:extLst>
            </p:cNvPr>
            <p:cNvGrpSpPr/>
            <p:nvPr/>
          </p:nvGrpSpPr>
          <p:grpSpPr>
            <a:xfrm>
              <a:off x="395536" y="1246107"/>
              <a:ext cx="3061484" cy="369332"/>
              <a:chOff x="562931" y="1428431"/>
              <a:chExt cx="3061484" cy="369332"/>
            </a:xfrm>
          </p:grpSpPr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6F656F7F-0C6F-4390-BEB2-1240E1FC5CE1}"/>
                  </a:ext>
                </a:extLst>
              </p:cNvPr>
              <p:cNvSpPr/>
              <p:nvPr/>
            </p:nvSpPr>
            <p:spPr>
              <a:xfrm>
                <a:off x="562931" y="1451239"/>
                <a:ext cx="94335" cy="323717"/>
              </a:xfrm>
              <a:prstGeom prst="rect">
                <a:avLst/>
              </a:prstGeom>
              <a:solidFill>
                <a:srgbClr val="337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350"/>
              </a:p>
            </p:txBody>
          </p:sp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B75DE23D-9A57-42EA-9D15-170A8CF9DA11}"/>
                  </a:ext>
                </a:extLst>
              </p:cNvPr>
              <p:cNvSpPr txBox="1"/>
              <p:nvPr/>
            </p:nvSpPr>
            <p:spPr>
              <a:xfrm>
                <a:off x="669760" y="1428431"/>
                <a:ext cx="29546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テキストのアニメーション</a:t>
                </a:r>
              </a:p>
            </p:txBody>
          </p:sp>
        </p:grp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49B1D8FB-BB65-4298-A00A-83121C9DAAA1}"/>
                </a:ext>
              </a:extLst>
            </p:cNvPr>
            <p:cNvSpPr/>
            <p:nvPr/>
          </p:nvSpPr>
          <p:spPr>
            <a:xfrm>
              <a:off x="5091719" y="1917616"/>
              <a:ext cx="3576006" cy="18714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kumimoji="1" lang="ja-JP" altLang="en-US" dirty="0"/>
                <a:t>表示される画像</a:t>
              </a:r>
              <a:endParaRPr kumimoji="1" lang="en-US" altLang="ja-JP" dirty="0"/>
            </a:p>
          </p:txBody>
        </p: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4EC7531A-8EE2-4A3C-8094-C40BEF91D1BB}"/>
              </a:ext>
            </a:extLst>
          </p:cNvPr>
          <p:cNvGrpSpPr/>
          <p:nvPr/>
        </p:nvGrpSpPr>
        <p:grpSpPr>
          <a:xfrm>
            <a:off x="395536" y="4114024"/>
            <a:ext cx="8272189" cy="2542933"/>
            <a:chOff x="395536" y="1246107"/>
            <a:chExt cx="8272189" cy="2542933"/>
          </a:xfrm>
        </p:grpSpPr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0AC12B73-476E-4CF3-A138-86668148242E}"/>
                </a:ext>
              </a:extLst>
            </p:cNvPr>
            <p:cNvSpPr/>
            <p:nvPr/>
          </p:nvSpPr>
          <p:spPr>
            <a:xfrm>
              <a:off x="447275" y="1917616"/>
              <a:ext cx="3576006" cy="18714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kumimoji="1" lang="ja-JP" altLang="en-US" dirty="0"/>
                <a:t>コード貼る</a:t>
              </a:r>
              <a:endParaRPr kumimoji="1" lang="en-US" altLang="ja-JP" dirty="0"/>
            </a:p>
            <a:p>
              <a:r>
                <a:rPr kumimoji="1" lang="ja-JP" altLang="en-US" dirty="0"/>
                <a:t>画像アニメーションのコード</a:t>
              </a:r>
              <a:endParaRPr kumimoji="1" lang="en-US" altLang="ja-JP" dirty="0"/>
            </a:p>
          </p:txBody>
        </p:sp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52D2B42F-14A3-438D-B757-C708D69618FF}"/>
                </a:ext>
              </a:extLst>
            </p:cNvPr>
            <p:cNvGrpSpPr/>
            <p:nvPr/>
          </p:nvGrpSpPr>
          <p:grpSpPr>
            <a:xfrm>
              <a:off x="395536" y="1246107"/>
              <a:ext cx="2599819" cy="369332"/>
              <a:chOff x="562931" y="1428431"/>
              <a:chExt cx="2599819" cy="369332"/>
            </a:xfrm>
          </p:grpSpPr>
          <p:sp>
            <p:nvSpPr>
              <p:cNvPr id="22" name="正方形/長方形 21">
                <a:extLst>
                  <a:ext uri="{FF2B5EF4-FFF2-40B4-BE49-F238E27FC236}">
                    <a16:creationId xmlns:a16="http://schemas.microsoft.com/office/drawing/2014/main" id="{930F0185-AD46-4D6D-8D12-5D94C5B25AD8}"/>
                  </a:ext>
                </a:extLst>
              </p:cNvPr>
              <p:cNvSpPr/>
              <p:nvPr/>
            </p:nvSpPr>
            <p:spPr>
              <a:xfrm>
                <a:off x="562931" y="1451239"/>
                <a:ext cx="94335" cy="323717"/>
              </a:xfrm>
              <a:prstGeom prst="rect">
                <a:avLst/>
              </a:prstGeom>
              <a:solidFill>
                <a:srgbClr val="337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350"/>
              </a:p>
            </p:txBody>
          </p:sp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8955FAF5-7849-4B22-A818-8F4CAA19E509}"/>
                  </a:ext>
                </a:extLst>
              </p:cNvPr>
              <p:cNvSpPr txBox="1"/>
              <p:nvPr/>
            </p:nvSpPr>
            <p:spPr>
              <a:xfrm>
                <a:off x="669760" y="1428431"/>
                <a:ext cx="24929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画像のアニメーション</a:t>
                </a:r>
              </a:p>
            </p:txBody>
          </p:sp>
        </p:grp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48595F19-8AEF-46EE-A706-9FE9B77A75A7}"/>
                </a:ext>
              </a:extLst>
            </p:cNvPr>
            <p:cNvSpPr/>
            <p:nvPr/>
          </p:nvSpPr>
          <p:spPr>
            <a:xfrm>
              <a:off x="5091719" y="1917616"/>
              <a:ext cx="3576006" cy="18714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kumimoji="1" lang="ja-JP" altLang="en-US" dirty="0"/>
                <a:t>表示される画像</a:t>
              </a:r>
              <a:endParaRPr kumimoji="1" lang="en-US" altLang="ja-JP" dirty="0"/>
            </a:p>
          </p:txBody>
        </p:sp>
      </p:grpSp>
    </p:spTree>
    <p:extLst>
      <p:ext uri="{BB962C8B-B14F-4D97-AF65-F5344CB8AC3E}">
        <p14:creationId xmlns:p14="http://schemas.microsoft.com/office/powerpoint/2010/main" val="3015211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91799B8F-F618-6F06-582F-5819BCD61D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13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F3B41F72-062B-7231-E86D-D81AA6C0D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ソースコードのメリット</a:t>
            </a: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494DD592-CFFA-A1B3-54A3-C8CA16D92130}"/>
              </a:ext>
            </a:extLst>
          </p:cNvPr>
          <p:cNvGrpSpPr/>
          <p:nvPr/>
        </p:nvGrpSpPr>
        <p:grpSpPr>
          <a:xfrm>
            <a:off x="395536" y="1246107"/>
            <a:ext cx="4677311" cy="369332"/>
            <a:chOff x="562931" y="1428431"/>
            <a:chExt cx="4677311" cy="369332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9365F55C-77FB-69D0-C14D-909B314FF898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0D3982BD-ED3B-2416-1932-9C0F86FD6F42}"/>
                </a:ext>
              </a:extLst>
            </p:cNvPr>
            <p:cNvSpPr txBox="1"/>
            <p:nvPr/>
          </p:nvSpPr>
          <p:spPr>
            <a:xfrm>
              <a:off x="669760" y="1428431"/>
              <a:ext cx="45704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繰り返し処理でコンテンツを整列させる例</a:t>
              </a:r>
            </a:p>
          </p:txBody>
        </p:sp>
      </p:grp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D51B376-A776-76DE-499F-1A28ED521AAB}"/>
              </a:ext>
            </a:extLst>
          </p:cNvPr>
          <p:cNvSpPr/>
          <p:nvPr/>
        </p:nvSpPr>
        <p:spPr>
          <a:xfrm>
            <a:off x="502365" y="1917966"/>
            <a:ext cx="8206856" cy="46077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ja-JP" dirty="0"/>
              <a:t>For</a:t>
            </a:r>
            <a:r>
              <a:rPr lang="ja-JP" altLang="en-US" dirty="0"/>
              <a:t>文を使って作成した同じようなアニメーションか画像を表示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728675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14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まとめ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19A7F18E-6C34-4E50-A45D-A057F9E3AF0E}"/>
              </a:ext>
            </a:extLst>
          </p:cNvPr>
          <p:cNvGrpSpPr/>
          <p:nvPr/>
        </p:nvGrpSpPr>
        <p:grpSpPr>
          <a:xfrm>
            <a:off x="395536" y="1246107"/>
            <a:ext cx="753160" cy="369332"/>
            <a:chOff x="562931" y="1428431"/>
            <a:chExt cx="753160" cy="369332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07DA292C-BE56-4367-8DA9-9A618B258171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04375DB9-AE54-4808-8F14-7FDAA0F81535}"/>
                </a:ext>
              </a:extLst>
            </p:cNvPr>
            <p:cNvSpPr txBox="1"/>
            <p:nvPr/>
          </p:nvSpPr>
          <p:spPr>
            <a:xfrm>
              <a:off x="669760" y="1428431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目的</a:t>
              </a:r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FF295F3A-58D1-489E-923C-F5352B1E2C23}"/>
              </a:ext>
            </a:extLst>
          </p:cNvPr>
          <p:cNvGrpSpPr/>
          <p:nvPr/>
        </p:nvGrpSpPr>
        <p:grpSpPr>
          <a:xfrm>
            <a:off x="395536" y="3506844"/>
            <a:ext cx="1214825" cy="369332"/>
            <a:chOff x="562931" y="1428431"/>
            <a:chExt cx="1214825" cy="369332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E9EF5E62-AF64-4804-9D1A-DDEE66409486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38A87F34-AA51-482A-8696-0202F252A079}"/>
                </a:ext>
              </a:extLst>
            </p:cNvPr>
            <p:cNvSpPr txBox="1"/>
            <p:nvPr/>
          </p:nvSpPr>
          <p:spPr>
            <a:xfrm>
              <a:off x="669760" y="142843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研究内容</a:t>
              </a:r>
            </a:p>
          </p:txBody>
        </p:sp>
      </p:grp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50C636BA-EB5E-4676-8113-EDDEE0C38DD4}"/>
              </a:ext>
            </a:extLst>
          </p:cNvPr>
          <p:cNvGrpSpPr/>
          <p:nvPr/>
        </p:nvGrpSpPr>
        <p:grpSpPr>
          <a:xfrm>
            <a:off x="395536" y="4872038"/>
            <a:ext cx="753160" cy="369332"/>
            <a:chOff x="562931" y="1428431"/>
            <a:chExt cx="753160" cy="369332"/>
          </a:xfrm>
        </p:grpSpPr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80F42CC9-5DB5-4442-896D-614AF360C22D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D71BB14B-F3D1-4479-B934-4163E08676CC}"/>
                </a:ext>
              </a:extLst>
            </p:cNvPr>
            <p:cNvSpPr txBox="1"/>
            <p:nvPr/>
          </p:nvSpPr>
          <p:spPr>
            <a:xfrm>
              <a:off x="669760" y="1428431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結果</a:t>
              </a:r>
            </a:p>
          </p:txBody>
        </p:sp>
      </p:grp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E8B203E-22A6-423B-BD3E-04FDFB1FCF61}"/>
              </a:ext>
            </a:extLst>
          </p:cNvPr>
          <p:cNvSpPr txBox="1"/>
          <p:nvPr/>
        </p:nvSpPr>
        <p:spPr>
          <a:xfrm>
            <a:off x="489871" y="1917616"/>
            <a:ext cx="6474849" cy="12913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dirty="0"/>
              <a:t>アニメーション付きスライド</a:t>
            </a:r>
            <a:r>
              <a:rPr kumimoji="1" lang="ja-JP" altLang="en-US" dirty="0"/>
              <a:t>作成における作業負担の軽減</a:t>
            </a:r>
            <a:endParaRPr kumimoji="1" lang="en-US" altLang="ja-JP" dirty="0"/>
          </a:p>
          <a:p>
            <a:pPr>
              <a:lnSpc>
                <a:spcPct val="150000"/>
              </a:lnSpc>
            </a:pPr>
            <a:r>
              <a:rPr lang="ja-JP" altLang="en-US" dirty="0"/>
              <a:t>→図形位置、大きさを数値で制御</a:t>
            </a:r>
            <a:endParaRPr lang="en-US" altLang="ja-JP" dirty="0"/>
          </a:p>
          <a:p>
            <a:pPr>
              <a:lnSpc>
                <a:spcPct val="150000"/>
              </a:lnSpc>
            </a:pPr>
            <a:r>
              <a:rPr kumimoji="1" lang="ja-JP" altLang="en-US" dirty="0"/>
              <a:t>→波形などのアニメーションを簡単描画</a:t>
            </a:r>
            <a:endParaRPr kumimoji="1" lang="en-US" altLang="ja-JP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E1D55EF-9EEE-44C5-95AF-42A17C0AD1E5}"/>
              </a:ext>
            </a:extLst>
          </p:cNvPr>
          <p:cNvSpPr txBox="1"/>
          <p:nvPr/>
        </p:nvSpPr>
        <p:spPr>
          <a:xfrm>
            <a:off x="442703" y="4175371"/>
            <a:ext cx="8786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/>
              <a:t>Aqualis</a:t>
            </a:r>
            <a:r>
              <a:rPr lang="ja-JP" altLang="en-US" dirty="0"/>
              <a:t>のコード→</a:t>
            </a:r>
            <a:r>
              <a:rPr lang="en-US" altLang="ja-JP" dirty="0"/>
              <a:t>HTML</a:t>
            </a:r>
            <a:r>
              <a:rPr lang="ja-JP" altLang="en-US" dirty="0"/>
              <a:t>・</a:t>
            </a:r>
            <a:r>
              <a:rPr lang="en-US" altLang="ja-JP" dirty="0"/>
              <a:t>JavaScript</a:t>
            </a:r>
            <a:r>
              <a:rPr lang="ja-JP" altLang="en-US" dirty="0"/>
              <a:t>のコードを生成するライブラリ（関数群）を実装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E330311-2856-AA0F-AF52-27B6D8EFB9D7}"/>
              </a:ext>
            </a:extLst>
          </p:cNvPr>
          <p:cNvSpPr txBox="1"/>
          <p:nvPr/>
        </p:nvSpPr>
        <p:spPr>
          <a:xfrm>
            <a:off x="491589" y="5498916"/>
            <a:ext cx="87735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数値解析用プログラミング言語（</a:t>
            </a:r>
            <a:r>
              <a:rPr lang="en-US" altLang="ja-JP" dirty="0" err="1"/>
              <a:t>Aqualis</a:t>
            </a:r>
            <a:r>
              <a:rPr lang="ja-JP" altLang="en-US" dirty="0"/>
              <a:t>）と共通のコードでスライドも作れる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正確な図・アニメーションを効率的に作成可能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4873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15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研究目的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D6775146-4AF3-4AB4-BF48-603F9BA16B06}"/>
              </a:ext>
            </a:extLst>
          </p:cNvPr>
          <p:cNvGrpSpPr/>
          <p:nvPr/>
        </p:nvGrpSpPr>
        <p:grpSpPr>
          <a:xfrm>
            <a:off x="395536" y="1246107"/>
            <a:ext cx="4677311" cy="369332"/>
            <a:chOff x="562931" y="1428431"/>
            <a:chExt cx="4677311" cy="369332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66F2C151-43EF-422C-806B-D280D186140B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65CCBC1C-3F80-4404-BDF6-C79706DDE1FC}"/>
                </a:ext>
              </a:extLst>
            </p:cNvPr>
            <p:cNvSpPr txBox="1"/>
            <p:nvPr/>
          </p:nvSpPr>
          <p:spPr>
            <a:xfrm>
              <a:off x="669760" y="1428431"/>
              <a:ext cx="45704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授業スライド作成における作業負担の軽減</a:t>
              </a:r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E8914F37-8778-4DF8-B46F-B5092249F989}"/>
              </a:ext>
            </a:extLst>
          </p:cNvPr>
          <p:cNvGrpSpPr/>
          <p:nvPr/>
        </p:nvGrpSpPr>
        <p:grpSpPr>
          <a:xfrm>
            <a:off x="395536" y="1883745"/>
            <a:ext cx="3523149" cy="369332"/>
            <a:chOff x="562931" y="2010458"/>
            <a:chExt cx="3523149" cy="369332"/>
          </a:xfrm>
        </p:grpSpPr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E6679751-CAD3-4A87-80F0-0E3E35DE472C}"/>
                </a:ext>
              </a:extLst>
            </p:cNvPr>
            <p:cNvCxnSpPr>
              <a:cxnSpLocks/>
            </p:cNvCxnSpPr>
            <p:nvPr/>
          </p:nvCxnSpPr>
          <p:spPr>
            <a:xfrm>
              <a:off x="562931" y="2359736"/>
              <a:ext cx="3523149" cy="0"/>
            </a:xfrm>
            <a:prstGeom prst="line">
              <a:avLst/>
            </a:prstGeom>
            <a:ln w="12700">
              <a:solidFill>
                <a:srgbClr val="337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6E767357-4987-4D61-8E98-717DC7BC5CF6}"/>
                </a:ext>
              </a:extLst>
            </p:cNvPr>
            <p:cNvSpPr/>
            <p:nvPr/>
          </p:nvSpPr>
          <p:spPr>
            <a:xfrm>
              <a:off x="562931" y="203601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11F39D0D-33AF-4DFB-B396-541EB77E0659}"/>
                </a:ext>
              </a:extLst>
            </p:cNvPr>
            <p:cNvSpPr txBox="1"/>
            <p:nvPr/>
          </p:nvSpPr>
          <p:spPr>
            <a:xfrm>
              <a:off x="669760" y="2010458"/>
              <a:ext cx="3416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図形位置、大きさを数値で制御</a:t>
              </a:r>
            </a:p>
          </p:txBody>
        </p:sp>
      </p:grp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83A73039-7739-4F88-9103-54654C56583E}"/>
              </a:ext>
            </a:extLst>
          </p:cNvPr>
          <p:cNvSpPr/>
          <p:nvPr/>
        </p:nvSpPr>
        <p:spPr>
          <a:xfrm>
            <a:off x="395536" y="2498576"/>
            <a:ext cx="3816424" cy="40267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ja-JP" dirty="0"/>
              <a:t>h</a:t>
            </a:r>
            <a:r>
              <a:rPr kumimoji="1" lang="en-US" altLang="ja-JP" dirty="0"/>
              <a:t>tml</a:t>
            </a:r>
            <a:r>
              <a:rPr kumimoji="1" lang="ja-JP" altLang="en-US" dirty="0"/>
              <a:t>の画像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682BF372-C515-4884-858D-CDC2341E818B}"/>
              </a:ext>
            </a:extLst>
          </p:cNvPr>
          <p:cNvSpPr/>
          <p:nvPr/>
        </p:nvSpPr>
        <p:spPr>
          <a:xfrm>
            <a:off x="4932042" y="2498575"/>
            <a:ext cx="3816424" cy="40267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dirty="0"/>
              <a:t>html</a:t>
            </a:r>
            <a:r>
              <a:rPr kumimoji="1" lang="ja-JP" altLang="en-US" dirty="0"/>
              <a:t>の画像</a:t>
            </a:r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E3EBD214-C020-47F8-A9BC-D946F728AF41}"/>
              </a:ext>
            </a:extLst>
          </p:cNvPr>
          <p:cNvGrpSpPr/>
          <p:nvPr/>
        </p:nvGrpSpPr>
        <p:grpSpPr>
          <a:xfrm>
            <a:off x="4732431" y="1852287"/>
            <a:ext cx="4215646" cy="369332"/>
            <a:chOff x="562931" y="2010458"/>
            <a:chExt cx="4215646" cy="369332"/>
          </a:xfrm>
        </p:grpSpPr>
        <p:cxnSp>
          <p:nvCxnSpPr>
            <p:cNvPr id="35" name="直線コネクタ 34">
              <a:extLst>
                <a:ext uri="{FF2B5EF4-FFF2-40B4-BE49-F238E27FC236}">
                  <a16:creationId xmlns:a16="http://schemas.microsoft.com/office/drawing/2014/main" id="{FB7480C0-ED6D-425A-AB8F-1CE8C3962416}"/>
                </a:ext>
              </a:extLst>
            </p:cNvPr>
            <p:cNvCxnSpPr>
              <a:cxnSpLocks/>
            </p:cNvCxnSpPr>
            <p:nvPr/>
          </p:nvCxnSpPr>
          <p:spPr>
            <a:xfrm>
              <a:off x="562931" y="2359736"/>
              <a:ext cx="4215646" cy="0"/>
            </a:xfrm>
            <a:prstGeom prst="line">
              <a:avLst/>
            </a:prstGeom>
            <a:ln w="12700">
              <a:solidFill>
                <a:srgbClr val="337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50959C58-5EC3-4560-8861-DEE3FF6072FA}"/>
                </a:ext>
              </a:extLst>
            </p:cNvPr>
            <p:cNvSpPr/>
            <p:nvPr/>
          </p:nvSpPr>
          <p:spPr>
            <a:xfrm>
              <a:off x="562931" y="203601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AEEA37A1-5247-4479-A4F9-6C68102A3364}"/>
                </a:ext>
              </a:extLst>
            </p:cNvPr>
            <p:cNvSpPr txBox="1"/>
            <p:nvPr/>
          </p:nvSpPr>
          <p:spPr>
            <a:xfrm>
              <a:off x="669760" y="2010458"/>
              <a:ext cx="41088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波形などのアニメーションを簡単描画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2406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37F9DBA-72E1-4229-BC2E-CEB3025BCA02}"/>
              </a:ext>
            </a:extLst>
          </p:cNvPr>
          <p:cNvSpPr txBox="1"/>
          <p:nvPr/>
        </p:nvSpPr>
        <p:spPr>
          <a:xfrm>
            <a:off x="0" y="37103"/>
            <a:ext cx="11592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900" dirty="0">
                <a:solidFill>
                  <a:srgbClr val="3371FF"/>
                </a:solidFill>
                <a:latin typeface="+mj-lt"/>
              </a:rPr>
              <a:t>第</a:t>
            </a:r>
            <a:r>
              <a:rPr lang="en-US" altLang="ja-JP" sz="900" dirty="0">
                <a:solidFill>
                  <a:srgbClr val="3371FF"/>
                </a:solidFill>
                <a:latin typeface="+mj-lt"/>
              </a:rPr>
              <a:t>1</a:t>
            </a:r>
            <a:r>
              <a:rPr lang="ja-JP" altLang="en-US" sz="900" dirty="0">
                <a:solidFill>
                  <a:srgbClr val="3371FF"/>
                </a:solidFill>
                <a:latin typeface="+mj-lt"/>
              </a:rPr>
              <a:t>章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D32027D-12CD-4732-A16B-4ACC50016776}"/>
              </a:ext>
            </a:extLst>
          </p:cNvPr>
          <p:cNvSpPr txBox="1"/>
          <p:nvPr/>
        </p:nvSpPr>
        <p:spPr>
          <a:xfrm>
            <a:off x="1188392" y="37105"/>
            <a:ext cx="11622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900" dirty="0">
                <a:solidFill>
                  <a:srgbClr val="3371FF"/>
                </a:solidFill>
                <a:latin typeface="+mj-lt"/>
              </a:rPr>
              <a:t>第</a:t>
            </a:r>
            <a:r>
              <a:rPr lang="en-US" altLang="ja-JP" sz="900" dirty="0">
                <a:solidFill>
                  <a:srgbClr val="3371FF"/>
                </a:solidFill>
                <a:latin typeface="+mj-lt"/>
              </a:rPr>
              <a:t>2</a:t>
            </a:r>
            <a:r>
              <a:rPr lang="ja-JP" altLang="en-US" sz="900" dirty="0">
                <a:solidFill>
                  <a:srgbClr val="3371FF"/>
                </a:solidFill>
                <a:latin typeface="+mj-lt"/>
              </a:rPr>
              <a:t>章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B79E544-F8DB-42A0-AD81-56CD083453A7}"/>
              </a:ext>
            </a:extLst>
          </p:cNvPr>
          <p:cNvSpPr txBox="1"/>
          <p:nvPr/>
        </p:nvSpPr>
        <p:spPr>
          <a:xfrm>
            <a:off x="2379052" y="37105"/>
            <a:ext cx="11607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900" dirty="0">
                <a:solidFill>
                  <a:srgbClr val="3371FF"/>
                </a:solidFill>
                <a:latin typeface="+mj-lt"/>
              </a:rPr>
              <a:t>第</a:t>
            </a:r>
            <a:r>
              <a:rPr lang="en-US" altLang="ja-JP" sz="900" dirty="0">
                <a:solidFill>
                  <a:srgbClr val="3371FF"/>
                </a:solidFill>
                <a:latin typeface="+mj-lt"/>
              </a:rPr>
              <a:t>3</a:t>
            </a:r>
            <a:r>
              <a:rPr lang="ja-JP" altLang="en-US" sz="900" dirty="0">
                <a:solidFill>
                  <a:srgbClr val="3371FF"/>
                </a:solidFill>
                <a:latin typeface="+mj-lt"/>
              </a:rPr>
              <a:t>章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FF88AAD4-A343-4746-A5CC-8DCBFB301D35}"/>
              </a:ext>
            </a:extLst>
          </p:cNvPr>
          <p:cNvSpPr txBox="1"/>
          <p:nvPr/>
        </p:nvSpPr>
        <p:spPr>
          <a:xfrm>
            <a:off x="3568986" y="37105"/>
            <a:ext cx="11561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900" dirty="0">
                <a:solidFill>
                  <a:srgbClr val="3371FF"/>
                </a:solidFill>
                <a:latin typeface="+mj-lt"/>
              </a:rPr>
              <a:t>第</a:t>
            </a:r>
            <a:r>
              <a:rPr lang="en-US" altLang="ja-JP" sz="900" dirty="0">
                <a:solidFill>
                  <a:srgbClr val="3371FF"/>
                </a:solidFill>
                <a:latin typeface="+mj-lt"/>
              </a:rPr>
              <a:t>4</a:t>
            </a:r>
            <a:r>
              <a:rPr lang="ja-JP" altLang="en-US" sz="900" dirty="0">
                <a:solidFill>
                  <a:srgbClr val="3371FF"/>
                </a:solidFill>
                <a:latin typeface="+mj-lt"/>
              </a:rPr>
              <a:t>章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67705E5-283C-44DB-8C1F-DA60482CAD29}"/>
              </a:ext>
            </a:extLst>
          </p:cNvPr>
          <p:cNvSpPr txBox="1"/>
          <p:nvPr/>
        </p:nvSpPr>
        <p:spPr>
          <a:xfrm>
            <a:off x="4754681" y="37105"/>
            <a:ext cx="11561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900" dirty="0">
                <a:solidFill>
                  <a:srgbClr val="3371FF"/>
                </a:solidFill>
                <a:latin typeface="+mj-lt"/>
              </a:rPr>
              <a:t>第</a:t>
            </a:r>
            <a:r>
              <a:rPr lang="en-US" altLang="ja-JP" sz="900" dirty="0">
                <a:solidFill>
                  <a:srgbClr val="3371FF"/>
                </a:solidFill>
                <a:latin typeface="+mj-lt"/>
              </a:rPr>
              <a:t>5</a:t>
            </a:r>
            <a:r>
              <a:rPr lang="ja-JP" altLang="en-US" sz="900" dirty="0">
                <a:solidFill>
                  <a:srgbClr val="3371FF"/>
                </a:solidFill>
                <a:latin typeface="+mj-lt"/>
              </a:rPr>
              <a:t>章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49A707D0-6C3E-488F-A10B-02A986118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16</a:t>
            </a:fld>
            <a:endParaRPr lang="ja-JP" altLang="en-US" dirty="0">
              <a:latin typeface="原ノ味角ゴシック Medium" panose="020B0600000000000000" pitchFamily="34" charset="-128"/>
              <a:ea typeface="原ノ味角ゴシック Medium" panose="020B0600000000000000" pitchFamily="34" charset="-128"/>
            </a:endParaRP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5927F4B-18A7-4004-AF47-7C2804C02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Contents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D5589F0-1955-41C5-8003-E965A6F98C5E}"/>
              </a:ext>
            </a:extLst>
          </p:cNvPr>
          <p:cNvSpPr/>
          <p:nvPr/>
        </p:nvSpPr>
        <p:spPr>
          <a:xfrm>
            <a:off x="562931" y="1451239"/>
            <a:ext cx="94335" cy="323717"/>
          </a:xfrm>
          <a:prstGeom prst="rect">
            <a:avLst/>
          </a:prstGeom>
          <a:solidFill>
            <a:srgbClr val="337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35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7301896-7E77-4A9C-9F8D-D4F929722D9E}"/>
              </a:ext>
            </a:extLst>
          </p:cNvPr>
          <p:cNvSpPr txBox="1"/>
          <p:nvPr/>
        </p:nvSpPr>
        <p:spPr>
          <a:xfrm>
            <a:off x="669760" y="142843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見出し１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366C6A6-F815-4E9A-BC93-1379368DA63E}"/>
              </a:ext>
            </a:extLst>
          </p:cNvPr>
          <p:cNvSpPr/>
          <p:nvPr/>
        </p:nvSpPr>
        <p:spPr>
          <a:xfrm>
            <a:off x="433503" y="2864969"/>
            <a:ext cx="1782198" cy="475562"/>
          </a:xfrm>
          <a:prstGeom prst="rect">
            <a:avLst/>
          </a:prstGeom>
          <a:solidFill>
            <a:srgbClr val="337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latin typeface="原ノ味角ゴシック Medium" panose="020B0600000000000000" pitchFamily="34" charset="-128"/>
                <a:ea typeface="原ノ味角ゴシック Medium" panose="020B0600000000000000" pitchFamily="34" charset="-128"/>
              </a:rPr>
              <a:t>レイアウト</a:t>
            </a:r>
            <a:r>
              <a:rPr lang="en-US" altLang="ja-JP" dirty="0">
                <a:latin typeface="原ノ味角ゴシック Medium" panose="020B0600000000000000" pitchFamily="34" charset="-128"/>
                <a:ea typeface="原ノ味角ゴシック Medium" panose="020B0600000000000000" pitchFamily="34" charset="-128"/>
              </a:rPr>
              <a:t>A</a:t>
            </a:r>
            <a:endParaRPr lang="ja-JP" altLang="en-US" dirty="0">
              <a:latin typeface="原ノ味角ゴシック Medium" panose="020B0600000000000000" pitchFamily="34" charset="-128"/>
              <a:ea typeface="原ノ味角ゴシック Medium" panose="020B0600000000000000" pitchFamily="34" charset="-128"/>
            </a:endParaRP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3EB4DF08-BC6D-44D2-AE2F-2A7B180F8BD0}"/>
              </a:ext>
            </a:extLst>
          </p:cNvPr>
          <p:cNvCxnSpPr>
            <a:cxnSpLocks/>
          </p:cNvCxnSpPr>
          <p:nvPr/>
        </p:nvCxnSpPr>
        <p:spPr>
          <a:xfrm>
            <a:off x="1" y="32547"/>
            <a:ext cx="5914731" cy="0"/>
          </a:xfrm>
          <a:prstGeom prst="line">
            <a:avLst/>
          </a:prstGeom>
          <a:ln w="762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A2ADF70-F26C-4BBD-A5DE-5551A58F680F}"/>
              </a:ext>
            </a:extLst>
          </p:cNvPr>
          <p:cNvCxnSpPr>
            <a:cxnSpLocks/>
          </p:cNvCxnSpPr>
          <p:nvPr/>
        </p:nvCxnSpPr>
        <p:spPr>
          <a:xfrm>
            <a:off x="0" y="32547"/>
            <a:ext cx="1160748" cy="0"/>
          </a:xfrm>
          <a:prstGeom prst="line">
            <a:avLst/>
          </a:prstGeom>
          <a:ln w="76200">
            <a:solidFill>
              <a:srgbClr val="337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731685E4-6DF0-4D5D-B40F-B08B13B34789}"/>
              </a:ext>
            </a:extLst>
          </p:cNvPr>
          <p:cNvCxnSpPr>
            <a:cxnSpLocks/>
          </p:cNvCxnSpPr>
          <p:nvPr/>
        </p:nvCxnSpPr>
        <p:spPr>
          <a:xfrm>
            <a:off x="1189725" y="32547"/>
            <a:ext cx="1160748" cy="0"/>
          </a:xfrm>
          <a:prstGeom prst="line">
            <a:avLst/>
          </a:prstGeom>
          <a:ln w="76200">
            <a:solidFill>
              <a:srgbClr val="337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374C6963-22B2-4088-9CB3-652ED070E77D}"/>
              </a:ext>
            </a:extLst>
          </p:cNvPr>
          <p:cNvCxnSpPr>
            <a:cxnSpLocks/>
          </p:cNvCxnSpPr>
          <p:nvPr/>
        </p:nvCxnSpPr>
        <p:spPr>
          <a:xfrm>
            <a:off x="2377719" y="32547"/>
            <a:ext cx="1160748" cy="0"/>
          </a:xfrm>
          <a:prstGeom prst="line">
            <a:avLst/>
          </a:prstGeom>
          <a:ln w="76200">
            <a:solidFill>
              <a:srgbClr val="337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A70AF5F5-5C66-4DB0-B938-608000C8CB2D}"/>
              </a:ext>
            </a:extLst>
          </p:cNvPr>
          <p:cNvCxnSpPr>
            <a:cxnSpLocks/>
          </p:cNvCxnSpPr>
          <p:nvPr/>
        </p:nvCxnSpPr>
        <p:spPr>
          <a:xfrm>
            <a:off x="3565851" y="32547"/>
            <a:ext cx="1160748" cy="0"/>
          </a:xfrm>
          <a:prstGeom prst="line">
            <a:avLst/>
          </a:prstGeom>
          <a:ln w="76200">
            <a:solidFill>
              <a:srgbClr val="337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59AB12B4-9923-4766-84B1-40740402FCB2}"/>
              </a:ext>
            </a:extLst>
          </p:cNvPr>
          <p:cNvCxnSpPr>
            <a:cxnSpLocks/>
          </p:cNvCxnSpPr>
          <p:nvPr/>
        </p:nvCxnSpPr>
        <p:spPr>
          <a:xfrm>
            <a:off x="4753983" y="32547"/>
            <a:ext cx="1160748" cy="0"/>
          </a:xfrm>
          <a:prstGeom prst="line">
            <a:avLst/>
          </a:prstGeom>
          <a:ln w="76200">
            <a:solidFill>
              <a:srgbClr val="337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F1DFC644-9A03-48FA-9257-AB469BEA0311}"/>
              </a:ext>
            </a:extLst>
          </p:cNvPr>
          <p:cNvSpPr/>
          <p:nvPr/>
        </p:nvSpPr>
        <p:spPr>
          <a:xfrm>
            <a:off x="2377719" y="2864969"/>
            <a:ext cx="1782198" cy="475562"/>
          </a:xfrm>
          <a:prstGeom prst="rect">
            <a:avLst/>
          </a:prstGeom>
          <a:solidFill>
            <a:srgbClr val="FF57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latin typeface="原ノ味角ゴシック Medium" panose="020B0600000000000000" pitchFamily="34" charset="-128"/>
                <a:ea typeface="原ノ味角ゴシック Medium" panose="020B0600000000000000" pitchFamily="34" charset="-128"/>
              </a:rPr>
              <a:t>レイアウト</a:t>
            </a:r>
            <a:r>
              <a:rPr lang="en-US" altLang="ja-JP" dirty="0">
                <a:latin typeface="原ノ味角ゴシック Medium" panose="020B0600000000000000" pitchFamily="34" charset="-128"/>
                <a:ea typeface="原ノ味角ゴシック Medium" panose="020B0600000000000000" pitchFamily="34" charset="-128"/>
              </a:rPr>
              <a:t>A</a:t>
            </a:r>
            <a:endParaRPr lang="ja-JP" altLang="en-US" dirty="0">
              <a:latin typeface="原ノ味角ゴシック Medium" panose="020B0600000000000000" pitchFamily="34" charset="-128"/>
              <a:ea typeface="原ノ味角ゴシック Medium" panose="020B0600000000000000" pitchFamily="34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C1275B24-203E-4314-9E60-B3A850894164}"/>
              </a:ext>
            </a:extLst>
          </p:cNvPr>
          <p:cNvSpPr txBox="1"/>
          <p:nvPr/>
        </p:nvSpPr>
        <p:spPr>
          <a:xfrm>
            <a:off x="827584" y="364493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テキスト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9E3292C-271B-4587-9279-A9A35BC7F223}"/>
              </a:ext>
            </a:extLst>
          </p:cNvPr>
          <p:cNvSpPr txBox="1"/>
          <p:nvPr/>
        </p:nvSpPr>
        <p:spPr>
          <a:xfrm>
            <a:off x="827584" y="412246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テキスト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E837043F-7B11-4747-BE40-DDBE85541A72}"/>
              </a:ext>
            </a:extLst>
          </p:cNvPr>
          <p:cNvSpPr txBox="1"/>
          <p:nvPr/>
        </p:nvSpPr>
        <p:spPr>
          <a:xfrm>
            <a:off x="827584" y="459999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テキスト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61E85FC0-1435-4E7B-87D7-A846050CEE44}"/>
              </a:ext>
            </a:extLst>
          </p:cNvPr>
          <p:cNvSpPr txBox="1"/>
          <p:nvPr/>
        </p:nvSpPr>
        <p:spPr>
          <a:xfrm>
            <a:off x="1979712" y="364493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3371FF"/>
                </a:solidFill>
                <a:latin typeface="+mn-ea"/>
              </a:rPr>
              <a:t>テキスト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FD542BD2-8330-448D-A937-0D684B0651E2}"/>
              </a:ext>
            </a:extLst>
          </p:cNvPr>
          <p:cNvSpPr txBox="1"/>
          <p:nvPr/>
        </p:nvSpPr>
        <p:spPr>
          <a:xfrm>
            <a:off x="1979712" y="412246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3371FF"/>
                </a:solidFill>
                <a:latin typeface="+mn-ea"/>
              </a:rPr>
              <a:t>テキスト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11422D83-1E4C-4409-809C-7CF50050BD67}"/>
              </a:ext>
            </a:extLst>
          </p:cNvPr>
          <p:cNvSpPr txBox="1"/>
          <p:nvPr/>
        </p:nvSpPr>
        <p:spPr>
          <a:xfrm>
            <a:off x="1979712" y="459999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3371FF"/>
                </a:solidFill>
                <a:latin typeface="+mn-ea"/>
              </a:rPr>
              <a:t>テキスト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A35BADD4-0058-4556-8E5A-C1FC365671C0}"/>
              </a:ext>
            </a:extLst>
          </p:cNvPr>
          <p:cNvSpPr txBox="1"/>
          <p:nvPr/>
        </p:nvSpPr>
        <p:spPr>
          <a:xfrm>
            <a:off x="3131840" y="364493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FF5729"/>
                </a:solidFill>
                <a:latin typeface="+mn-ea"/>
              </a:rPr>
              <a:t>テキスト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A29DB15B-1C6A-41C7-B087-FAB46EF0AEC7}"/>
              </a:ext>
            </a:extLst>
          </p:cNvPr>
          <p:cNvSpPr txBox="1"/>
          <p:nvPr/>
        </p:nvSpPr>
        <p:spPr>
          <a:xfrm>
            <a:off x="3131840" y="412246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FF5729"/>
                </a:solidFill>
                <a:latin typeface="+mn-ea"/>
              </a:rPr>
              <a:t>テキスト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648F9266-BE1F-4633-B942-4AD56DB412C8}"/>
              </a:ext>
            </a:extLst>
          </p:cNvPr>
          <p:cNvSpPr txBox="1"/>
          <p:nvPr/>
        </p:nvSpPr>
        <p:spPr>
          <a:xfrm>
            <a:off x="3131840" y="459999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FF5729"/>
                </a:solidFill>
                <a:latin typeface="+mn-ea"/>
              </a:rPr>
              <a:t>テキスト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C5D50449-A5D8-4E43-B0E9-65F4432794E4}"/>
              </a:ext>
            </a:extLst>
          </p:cNvPr>
          <p:cNvSpPr txBox="1"/>
          <p:nvPr/>
        </p:nvSpPr>
        <p:spPr>
          <a:xfrm>
            <a:off x="4822065" y="364493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テキスト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79FB7A24-5D0F-48DE-B8A1-C0B8977CDCDF}"/>
              </a:ext>
            </a:extLst>
          </p:cNvPr>
          <p:cNvSpPr txBox="1"/>
          <p:nvPr/>
        </p:nvSpPr>
        <p:spPr>
          <a:xfrm>
            <a:off x="4822065" y="412246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テキスト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14F4347C-4DC4-445D-8924-2F592733679C}"/>
              </a:ext>
            </a:extLst>
          </p:cNvPr>
          <p:cNvSpPr txBox="1"/>
          <p:nvPr/>
        </p:nvSpPr>
        <p:spPr>
          <a:xfrm>
            <a:off x="4822065" y="459999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テキスト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641561F9-15DA-4630-BE5B-BAB460151362}"/>
              </a:ext>
            </a:extLst>
          </p:cNvPr>
          <p:cNvSpPr txBox="1"/>
          <p:nvPr/>
        </p:nvSpPr>
        <p:spPr>
          <a:xfrm>
            <a:off x="5974193" y="364493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3371FF"/>
                </a:solidFill>
                <a:latin typeface="+mj-ea"/>
                <a:ea typeface="+mj-ea"/>
              </a:rPr>
              <a:t>テキスト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686F7E6D-29F9-4A3E-B729-0C47BDB81348}"/>
              </a:ext>
            </a:extLst>
          </p:cNvPr>
          <p:cNvSpPr txBox="1"/>
          <p:nvPr/>
        </p:nvSpPr>
        <p:spPr>
          <a:xfrm>
            <a:off x="5974193" y="412246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3371FF"/>
                </a:solidFill>
                <a:latin typeface="+mj-ea"/>
                <a:ea typeface="+mj-ea"/>
              </a:rPr>
              <a:t>テキスト</a:t>
            </a: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CB3DE36D-6757-4C5D-BB9B-B0BE576F4899}"/>
              </a:ext>
            </a:extLst>
          </p:cNvPr>
          <p:cNvSpPr txBox="1"/>
          <p:nvPr/>
        </p:nvSpPr>
        <p:spPr>
          <a:xfrm>
            <a:off x="5974193" y="459999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3371FF"/>
                </a:solidFill>
                <a:latin typeface="+mj-ea"/>
                <a:ea typeface="+mj-ea"/>
              </a:rPr>
              <a:t>テキスト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F97B362C-E995-45C6-ADD5-0147F3FC217B}"/>
              </a:ext>
            </a:extLst>
          </p:cNvPr>
          <p:cNvSpPr txBox="1"/>
          <p:nvPr/>
        </p:nvSpPr>
        <p:spPr>
          <a:xfrm>
            <a:off x="7126321" y="364493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FF5729"/>
                </a:solidFill>
                <a:latin typeface="+mj-ea"/>
                <a:ea typeface="+mj-ea"/>
              </a:rPr>
              <a:t>テキスト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BD7EE18F-6C01-49B3-B38F-9026C809960B}"/>
              </a:ext>
            </a:extLst>
          </p:cNvPr>
          <p:cNvSpPr txBox="1"/>
          <p:nvPr/>
        </p:nvSpPr>
        <p:spPr>
          <a:xfrm>
            <a:off x="7126321" y="412246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FF5729"/>
                </a:solidFill>
                <a:latin typeface="+mj-ea"/>
                <a:ea typeface="+mj-ea"/>
              </a:rPr>
              <a:t>テキスト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EDD22A4C-9774-48DE-839D-337B4E7D8D26}"/>
              </a:ext>
            </a:extLst>
          </p:cNvPr>
          <p:cNvSpPr txBox="1"/>
          <p:nvPr/>
        </p:nvSpPr>
        <p:spPr>
          <a:xfrm>
            <a:off x="7126321" y="459999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FF5729"/>
                </a:solidFill>
                <a:latin typeface="+mj-ea"/>
                <a:ea typeface="+mj-ea"/>
              </a:rPr>
              <a:t>テキスト</a:t>
            </a:r>
          </a:p>
        </p:txBody>
      </p: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358FBC4F-4AE9-49F9-B357-DC07054D25E0}"/>
              </a:ext>
            </a:extLst>
          </p:cNvPr>
          <p:cNvCxnSpPr>
            <a:cxnSpLocks/>
          </p:cNvCxnSpPr>
          <p:nvPr/>
        </p:nvCxnSpPr>
        <p:spPr>
          <a:xfrm>
            <a:off x="562931" y="2359736"/>
            <a:ext cx="6127337" cy="0"/>
          </a:xfrm>
          <a:prstGeom prst="line">
            <a:avLst/>
          </a:prstGeom>
          <a:ln w="12700">
            <a:solidFill>
              <a:srgbClr val="337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591A6510-B13B-4EF5-AEF8-0D8B1B62F046}"/>
              </a:ext>
            </a:extLst>
          </p:cNvPr>
          <p:cNvSpPr/>
          <p:nvPr/>
        </p:nvSpPr>
        <p:spPr>
          <a:xfrm>
            <a:off x="562931" y="2036019"/>
            <a:ext cx="94335" cy="323717"/>
          </a:xfrm>
          <a:prstGeom prst="rect">
            <a:avLst/>
          </a:prstGeom>
          <a:solidFill>
            <a:srgbClr val="337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350"/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9584C73B-BFE7-4D75-B96E-B6220E150B7E}"/>
              </a:ext>
            </a:extLst>
          </p:cNvPr>
          <p:cNvSpPr txBox="1"/>
          <p:nvPr/>
        </p:nvSpPr>
        <p:spPr>
          <a:xfrm>
            <a:off x="669760" y="201045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見出し２</a:t>
            </a:r>
          </a:p>
        </p:txBody>
      </p:sp>
    </p:spTree>
    <p:extLst>
      <p:ext uri="{BB962C8B-B14F-4D97-AF65-F5344CB8AC3E}">
        <p14:creationId xmlns:p14="http://schemas.microsoft.com/office/powerpoint/2010/main" val="3967945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17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研究背景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FFF4E16-4928-4981-AA52-FAA116C85245}"/>
              </a:ext>
            </a:extLst>
          </p:cNvPr>
          <p:cNvSpPr txBox="1"/>
          <p:nvPr/>
        </p:nvSpPr>
        <p:spPr>
          <a:xfrm>
            <a:off x="683568" y="1916832"/>
            <a:ext cx="1126462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オンライン授業やハイブリッド授業が普及</a:t>
            </a:r>
            <a:endParaRPr kumimoji="1" lang="en-US" altLang="ja-JP" dirty="0"/>
          </a:p>
          <a:p>
            <a:r>
              <a:rPr lang="ja-JP" altLang="en-US" dirty="0"/>
              <a:t>数学や物理でよく用いられるグラフや図、波の伝搬などは分かりやすい可視化が求められる</a:t>
            </a:r>
            <a:endParaRPr lang="en-US" altLang="ja-JP" dirty="0"/>
          </a:p>
          <a:p>
            <a:r>
              <a:rPr kumimoji="1" lang="ja-JP" altLang="en-US" dirty="0"/>
              <a:t>手作業で作成する場合、動画編集ソフト、グラフツール、アニメーションソフトを複数組み合わせる必要有</a:t>
            </a:r>
            <a:endParaRPr kumimoji="1" lang="en-US" altLang="ja-JP" dirty="0"/>
          </a:p>
          <a:p>
            <a:r>
              <a:rPr lang="ja-JP" altLang="en-US" dirty="0"/>
              <a:t>作業負担大　時間の消費、ツール間の不整合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数学専用の可視化ツール→</a:t>
            </a:r>
            <a:r>
              <a:rPr lang="en-US" altLang="ja-JP" dirty="0"/>
              <a:t>Desmos</a:t>
            </a:r>
            <a:r>
              <a:rPr lang="ja-JP" altLang="en-US" dirty="0"/>
              <a:t>、</a:t>
            </a:r>
            <a:r>
              <a:rPr lang="en-US" altLang="ja-JP" dirty="0"/>
              <a:t>GeoGebra</a:t>
            </a:r>
          </a:p>
          <a:p>
            <a:r>
              <a:rPr kumimoji="1" lang="ja-JP" altLang="en-US" dirty="0"/>
              <a:t>プログラミングによる描画→</a:t>
            </a:r>
            <a:r>
              <a:rPr kumimoji="1" lang="en-US" altLang="ja-JP" dirty="0"/>
              <a:t>Python</a:t>
            </a:r>
            <a:r>
              <a:rPr kumimoji="1" lang="ja-JP" altLang="en-US" dirty="0"/>
              <a:t>、</a:t>
            </a:r>
            <a:r>
              <a:rPr kumimoji="1" lang="en-US" altLang="ja-JP" dirty="0" err="1"/>
              <a:t>Manim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en-US" altLang="ja-JP" dirty="0"/>
              <a:t>After Effects</a:t>
            </a:r>
            <a:r>
              <a:rPr lang="ja-JP" altLang="en-US" dirty="0"/>
              <a:t>　動画作成ツールとしては強力　数学的に正確なグラフを数式から自動生成する機能はない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0392240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18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先行研究の紹介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C3DFC66-A824-4333-8B55-958574A6FFAA}"/>
              </a:ext>
            </a:extLst>
          </p:cNvPr>
          <p:cNvSpPr txBox="1"/>
          <p:nvPr/>
        </p:nvSpPr>
        <p:spPr>
          <a:xfrm>
            <a:off x="755576" y="2060848"/>
            <a:ext cx="1185292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スクロール型プレゼンテーションフレームワーク（</a:t>
            </a:r>
            <a:r>
              <a:rPr kumimoji="1" lang="en-US" altLang="ja-JP" dirty="0"/>
              <a:t>Scroll Presentation Frame </a:t>
            </a:r>
            <a:r>
              <a:rPr kumimoji="1" lang="en-US" altLang="ja-JP" dirty="0" err="1"/>
              <a:t>Work:SPFW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r>
              <a:rPr kumimoji="1" lang="ja-JP" altLang="en-US" dirty="0"/>
              <a:t>スクロールによるプレゼンテーションを作成するフレームワーク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ページ型プレゼンテーションフレームワーク（</a:t>
            </a:r>
            <a:r>
              <a:rPr kumimoji="1" lang="en-US" altLang="ja-JP" dirty="0"/>
              <a:t>Page Presentation Frame </a:t>
            </a:r>
            <a:r>
              <a:rPr kumimoji="1" lang="en-US" altLang="ja-JP" dirty="0" err="1"/>
              <a:t>Work:PPFW</a:t>
            </a:r>
            <a:r>
              <a:rPr lang="ja-JP" altLang="en-US" dirty="0"/>
              <a:t>）</a:t>
            </a:r>
            <a:endParaRPr lang="en-US" altLang="ja-JP" dirty="0"/>
          </a:p>
          <a:p>
            <a:r>
              <a:rPr kumimoji="1" lang="ja-JP" altLang="en-US" dirty="0"/>
              <a:t>動画の一部分を</a:t>
            </a:r>
            <a:r>
              <a:rPr kumimoji="1" lang="en-US" altLang="ja-JP" dirty="0"/>
              <a:t>1</a:t>
            </a:r>
            <a:r>
              <a:rPr kumimoji="1" lang="ja-JP" altLang="en-US" dirty="0"/>
              <a:t>ページとし、ページ遷移により動画の疑似的なプレゼンテーションを生成できるフレームワーク</a:t>
            </a:r>
          </a:p>
        </p:txBody>
      </p:sp>
    </p:spTree>
    <p:extLst>
      <p:ext uri="{BB962C8B-B14F-4D97-AF65-F5344CB8AC3E}">
        <p14:creationId xmlns:p14="http://schemas.microsoft.com/office/powerpoint/2010/main" val="38347650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19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結果</a:t>
            </a:r>
          </a:p>
        </p:txBody>
      </p:sp>
    </p:spTree>
    <p:extLst>
      <p:ext uri="{BB962C8B-B14F-4D97-AF65-F5344CB8AC3E}">
        <p14:creationId xmlns:p14="http://schemas.microsoft.com/office/powerpoint/2010/main" val="1693164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20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研究目的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D6775146-4AF3-4AB4-BF48-603F9BA16B06}"/>
              </a:ext>
            </a:extLst>
          </p:cNvPr>
          <p:cNvGrpSpPr/>
          <p:nvPr/>
        </p:nvGrpSpPr>
        <p:grpSpPr>
          <a:xfrm>
            <a:off x="395536" y="1246107"/>
            <a:ext cx="3423763" cy="369332"/>
            <a:chOff x="562931" y="1428431"/>
            <a:chExt cx="3423763" cy="369332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66F2C151-43EF-422C-806B-D280D186140B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65CCBC1C-3F80-4404-BDF6-C79706DDE1FC}"/>
                </a:ext>
              </a:extLst>
            </p:cNvPr>
            <p:cNvSpPr txBox="1"/>
            <p:nvPr/>
          </p:nvSpPr>
          <p:spPr>
            <a:xfrm>
              <a:off x="669760" y="1428431"/>
              <a:ext cx="33169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1</a:t>
              </a:r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つのツールで授業動画を作る</a:t>
              </a:r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E8914F37-8778-4DF8-B46F-B5092249F989}"/>
              </a:ext>
            </a:extLst>
          </p:cNvPr>
          <p:cNvGrpSpPr/>
          <p:nvPr/>
        </p:nvGrpSpPr>
        <p:grpSpPr>
          <a:xfrm>
            <a:off x="395536" y="1872341"/>
            <a:ext cx="4215646" cy="369332"/>
            <a:chOff x="562931" y="2010458"/>
            <a:chExt cx="4215646" cy="369332"/>
          </a:xfrm>
        </p:grpSpPr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E6679751-CAD3-4A87-80F0-0E3E35DE472C}"/>
                </a:ext>
              </a:extLst>
            </p:cNvPr>
            <p:cNvCxnSpPr>
              <a:cxnSpLocks/>
            </p:cNvCxnSpPr>
            <p:nvPr/>
          </p:nvCxnSpPr>
          <p:spPr>
            <a:xfrm>
              <a:off x="562931" y="2359736"/>
              <a:ext cx="4215646" cy="0"/>
            </a:xfrm>
            <a:prstGeom prst="line">
              <a:avLst/>
            </a:prstGeom>
            <a:ln w="12700">
              <a:solidFill>
                <a:srgbClr val="337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6E767357-4987-4D61-8E98-717DC7BC5CF6}"/>
                </a:ext>
              </a:extLst>
            </p:cNvPr>
            <p:cNvSpPr/>
            <p:nvPr/>
          </p:nvSpPr>
          <p:spPr>
            <a:xfrm>
              <a:off x="562931" y="203601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11F39D0D-33AF-4DFB-B396-541EB77E0659}"/>
                </a:ext>
              </a:extLst>
            </p:cNvPr>
            <p:cNvSpPr txBox="1"/>
            <p:nvPr/>
          </p:nvSpPr>
          <p:spPr>
            <a:xfrm>
              <a:off x="669760" y="2010458"/>
              <a:ext cx="41088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波形などのアニメーションを簡単描画</a:t>
              </a:r>
            </a:p>
          </p:txBody>
        </p:sp>
      </p:grp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83A73039-7739-4F88-9103-54654C56583E}"/>
              </a:ext>
            </a:extLst>
          </p:cNvPr>
          <p:cNvSpPr/>
          <p:nvPr/>
        </p:nvSpPr>
        <p:spPr>
          <a:xfrm>
            <a:off x="395536" y="2498576"/>
            <a:ext cx="3816424" cy="40267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dirty="0"/>
              <a:t>コード貼る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9EE51C0-848E-4B96-83B5-4156BAAB97F5}"/>
              </a:ext>
            </a:extLst>
          </p:cNvPr>
          <p:cNvSpPr/>
          <p:nvPr/>
        </p:nvSpPr>
        <p:spPr>
          <a:xfrm>
            <a:off x="4932042" y="2498576"/>
            <a:ext cx="3816424" cy="40267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dirty="0"/>
              <a:t>コードを</a:t>
            </a:r>
          </a:p>
        </p:txBody>
      </p:sp>
    </p:spTree>
    <p:extLst>
      <p:ext uri="{BB962C8B-B14F-4D97-AF65-F5344CB8AC3E}">
        <p14:creationId xmlns:p14="http://schemas.microsoft.com/office/powerpoint/2010/main" val="13003309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21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研究目的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D919D9F-0C2F-4413-B025-81FBD0DD4C6F}"/>
              </a:ext>
            </a:extLst>
          </p:cNvPr>
          <p:cNvSpPr txBox="1"/>
          <p:nvPr/>
        </p:nvSpPr>
        <p:spPr>
          <a:xfrm>
            <a:off x="1403648" y="2060848"/>
            <a:ext cx="101681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授業動画　時間や作業負担を減らして効率的に作成できるようにする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単一のフレームワークで完結するようにする（グラフ生成から授業用動画の生成まですべて）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グラフの生成を簡単に行う（複雑なグラフを含む）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45608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22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アニメーション制御の実装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9D27232-4D51-4A3D-8556-29E3CD0A9325}"/>
              </a:ext>
            </a:extLst>
          </p:cNvPr>
          <p:cNvSpPr/>
          <p:nvPr/>
        </p:nvSpPr>
        <p:spPr>
          <a:xfrm>
            <a:off x="539552" y="1246107"/>
            <a:ext cx="8064895" cy="527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dirty="0"/>
              <a:t>スタートボタン、リセットボタンが表示されている画像</a:t>
            </a:r>
          </a:p>
        </p:txBody>
      </p:sp>
    </p:spTree>
    <p:extLst>
      <p:ext uri="{BB962C8B-B14F-4D97-AF65-F5344CB8AC3E}">
        <p14:creationId xmlns:p14="http://schemas.microsoft.com/office/powerpoint/2010/main" val="1391236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23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アニメーション制御の実装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9D27232-4D51-4A3D-8556-29E3CD0A9325}"/>
              </a:ext>
            </a:extLst>
          </p:cNvPr>
          <p:cNvSpPr/>
          <p:nvPr/>
        </p:nvSpPr>
        <p:spPr>
          <a:xfrm>
            <a:off x="539552" y="1246107"/>
            <a:ext cx="8064895" cy="5279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dirty="0"/>
              <a:t>コード貼る</a:t>
            </a:r>
            <a:endParaRPr lang="en-US" altLang="ja-JP" dirty="0"/>
          </a:p>
          <a:p>
            <a:r>
              <a:rPr kumimoji="1" lang="ja-JP" altLang="en-US" dirty="0"/>
              <a:t>ボタン（スタートボタン、リセットボタン）を作成するコードの説明</a:t>
            </a:r>
          </a:p>
        </p:txBody>
      </p:sp>
    </p:spTree>
    <p:extLst>
      <p:ext uri="{BB962C8B-B14F-4D97-AF65-F5344CB8AC3E}">
        <p14:creationId xmlns:p14="http://schemas.microsoft.com/office/powerpoint/2010/main" val="30387485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24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研究背景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657C618-F3E9-45B9-9166-DB30EBC59B8D}"/>
              </a:ext>
            </a:extLst>
          </p:cNvPr>
          <p:cNvSpPr txBox="1"/>
          <p:nvPr/>
        </p:nvSpPr>
        <p:spPr>
          <a:xfrm>
            <a:off x="4640404" y="1909384"/>
            <a:ext cx="2550698" cy="1670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ja-JP" altLang="en-US" dirty="0"/>
              <a:t>マウスで</a:t>
            </a:r>
            <a:endParaRPr lang="en-US" altLang="ja-JP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ja-JP" altLang="en-US" dirty="0"/>
              <a:t>自由度が低い</a:t>
            </a:r>
            <a:endParaRPr kumimoji="1" lang="en-US" altLang="ja-JP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ja-JP" altLang="en-US" dirty="0"/>
              <a:t>複数のツールを使用</a:t>
            </a:r>
            <a:endParaRPr kumimoji="1" lang="en-US" altLang="ja-JP" dirty="0"/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4559286A-2C26-45EA-B028-B5F6A664A236}"/>
              </a:ext>
            </a:extLst>
          </p:cNvPr>
          <p:cNvGrpSpPr/>
          <p:nvPr/>
        </p:nvGrpSpPr>
        <p:grpSpPr>
          <a:xfrm>
            <a:off x="395536" y="1253395"/>
            <a:ext cx="5733241" cy="369332"/>
            <a:chOff x="562931" y="1428431"/>
            <a:chExt cx="5733241" cy="369332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F0BB8A0A-6879-42EF-AA3A-2261DDE55198}"/>
                </a:ext>
              </a:extLst>
            </p:cNvPr>
            <p:cNvSpPr/>
            <p:nvPr/>
          </p:nvSpPr>
          <p:spPr>
            <a:xfrm>
              <a:off x="562931" y="1451239"/>
              <a:ext cx="94335" cy="323717"/>
            </a:xfrm>
            <a:prstGeom prst="rect">
              <a:avLst/>
            </a:prstGeom>
            <a:solidFill>
              <a:srgbClr val="337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350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E83A19EF-9C00-4FB2-8AD4-D11D42F1D6F5}"/>
                </a:ext>
              </a:extLst>
            </p:cNvPr>
            <p:cNvSpPr txBox="1"/>
            <p:nvPr/>
          </p:nvSpPr>
          <p:spPr>
            <a:xfrm>
              <a:off x="669760" y="1428431"/>
              <a:ext cx="562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既存の授業スライド作成ツール（例：</a:t>
              </a:r>
              <a:r>
                <a:rPr lang="en-US" altLang="ja-JP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PowerPoint</a:t>
              </a:r>
              <a:r>
                <a:rPr lang="ja-JP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）</a:t>
              </a:r>
            </a:p>
          </p:txBody>
        </p:sp>
      </p:grp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B598FAF-8BD7-4C2E-BAA1-D4618E06EB0A}"/>
              </a:ext>
            </a:extLst>
          </p:cNvPr>
          <p:cNvSpPr txBox="1"/>
          <p:nvPr/>
        </p:nvSpPr>
        <p:spPr>
          <a:xfrm>
            <a:off x="657266" y="1909384"/>
            <a:ext cx="2319866" cy="16709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ja-JP" altLang="en-US" dirty="0"/>
              <a:t>作業負担</a:t>
            </a:r>
            <a:r>
              <a:rPr lang="ja-JP" altLang="en-US" dirty="0"/>
              <a:t>が大きい</a:t>
            </a:r>
            <a:endParaRPr kumimoji="1" lang="en-US" altLang="ja-JP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ja-JP" altLang="en-US" dirty="0"/>
              <a:t>時間の消費</a:t>
            </a:r>
            <a:endParaRPr lang="en-US" altLang="ja-JP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ja-JP" altLang="en-US" dirty="0"/>
              <a:t>ツール間の不整合</a:t>
            </a:r>
            <a:endParaRPr kumimoji="1" lang="en-US" altLang="ja-JP" dirty="0"/>
          </a:p>
        </p:txBody>
      </p:sp>
      <p:sp>
        <p:nvSpPr>
          <p:cNvPr id="11" name="左中かっこ 10">
            <a:extLst>
              <a:ext uri="{FF2B5EF4-FFF2-40B4-BE49-F238E27FC236}">
                <a16:creationId xmlns:a16="http://schemas.microsoft.com/office/drawing/2014/main" id="{7D9928E9-8CD2-4361-9343-C3EF4D249B01}"/>
              </a:ext>
            </a:extLst>
          </p:cNvPr>
          <p:cNvSpPr/>
          <p:nvPr/>
        </p:nvSpPr>
        <p:spPr>
          <a:xfrm>
            <a:off x="3629649" y="1909384"/>
            <a:ext cx="358238" cy="1670907"/>
          </a:xfrm>
          <a:prstGeom prst="leftBrace">
            <a:avLst>
              <a:gd name="adj1" fmla="val 45277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2667E47-9FA8-4308-AE40-55C4921236B9}"/>
              </a:ext>
            </a:extLst>
          </p:cNvPr>
          <p:cNvSpPr/>
          <p:nvPr/>
        </p:nvSpPr>
        <p:spPr>
          <a:xfrm>
            <a:off x="539552" y="3866948"/>
            <a:ext cx="8064896" cy="25922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dirty="0">
                <a:solidFill>
                  <a:schemeClr val="bg1">
                    <a:lumMod val="75000"/>
                  </a:schemeClr>
                </a:solidFill>
              </a:rPr>
              <a:t>PowerPoint</a:t>
            </a:r>
            <a:r>
              <a:rPr kumimoji="1" lang="ja-JP" altLang="en-US" dirty="0">
                <a:solidFill>
                  <a:schemeClr val="bg1">
                    <a:lumMod val="75000"/>
                  </a:schemeClr>
                </a:solidFill>
              </a:rPr>
              <a:t>を用いたアニメーション作成手順の例</a:t>
            </a:r>
            <a:endParaRPr kumimoji="1" lang="en-US" altLang="ja-JP" dirty="0">
              <a:solidFill>
                <a:schemeClr val="bg1">
                  <a:lumMod val="75000"/>
                </a:schemeClr>
              </a:solidFill>
            </a:endParaRP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02540430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_Conference_CORE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5">
      <a:majorFont>
        <a:latin typeface="原ノ味角ゴシック Medium"/>
        <a:ea typeface="原ノ味角ゴシック Medium"/>
        <a:cs typeface=""/>
      </a:majorFont>
      <a:minorFont>
        <a:latin typeface="原ノ味角ゴシック Normal"/>
        <a:ea typeface="原ノ味角ゴシック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Conference_KIT8A.potx" id="{ACD7AA85-177C-4A2C-BC1C-579D9EBD89F0}" vid="{594C48E5-02B9-498C-8D9D-0FF905A48594}"/>
    </a:ext>
  </a:extLst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Presentation_Conference_KIT8A</Template>
  <TotalTime>2201</TotalTime>
  <Words>954</Words>
  <Application>Microsoft Office PowerPoint</Application>
  <PresentationFormat>画面に合わせる (4:3)</PresentationFormat>
  <Paragraphs>204</Paragraphs>
  <Slides>24</Slides>
  <Notes>10</Notes>
  <HiddenSlides>9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28" baseType="lpstr">
      <vt:lpstr>原ノ味角ゴシック Medium</vt:lpstr>
      <vt:lpstr>Arial</vt:lpstr>
      <vt:lpstr>Calibri</vt:lpstr>
      <vt:lpstr>Presentation_Conference_CORE5</vt:lpstr>
      <vt:lpstr>数値解析用プログラミング言語と連動したアニメーション図説フレームワークの開発</vt:lpstr>
      <vt:lpstr>研究背景</vt:lpstr>
      <vt:lpstr>Pythonの課題</vt:lpstr>
      <vt:lpstr>研究目的</vt:lpstr>
      <vt:lpstr>解決策</vt:lpstr>
      <vt:lpstr>原理</vt:lpstr>
      <vt:lpstr>アニメーション制御の実装</vt:lpstr>
      <vt:lpstr>アニメーション制御の実装</vt:lpstr>
      <vt:lpstr>図形・テキスト・画像のアニメーション制御</vt:lpstr>
      <vt:lpstr>図形・テキスト・画像のアニメーション制御</vt:lpstr>
      <vt:lpstr>図形・テキスト・画像のアニメーション制御</vt:lpstr>
      <vt:lpstr>図形・テキスト・画像のアニメーション制御</vt:lpstr>
      <vt:lpstr>ソースコードのメリット</vt:lpstr>
      <vt:lpstr>まとめ</vt:lpstr>
      <vt:lpstr>研究目的</vt:lpstr>
      <vt:lpstr>Contents</vt:lpstr>
      <vt:lpstr>研究背景</vt:lpstr>
      <vt:lpstr>先行研究の紹介</vt:lpstr>
      <vt:lpstr>結果</vt:lpstr>
      <vt:lpstr>研究目的</vt:lpstr>
      <vt:lpstr>研究目的</vt:lpstr>
      <vt:lpstr>アニメーション制御の実装</vt:lpstr>
      <vt:lpstr>アニメーション制御の実装</vt:lpstr>
      <vt:lpstr>研究背景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nishimura</dc:creator>
  <cp:lastModifiedBy>美春 西村</cp:lastModifiedBy>
  <cp:revision>57</cp:revision>
  <dcterms:created xsi:type="dcterms:W3CDTF">2025-11-17T06:31:31Z</dcterms:created>
  <dcterms:modified xsi:type="dcterms:W3CDTF">2025-12-01T17:02:51Z</dcterms:modified>
</cp:coreProperties>
</file>