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7" r:id="rId3"/>
    <p:sldId id="288" r:id="rId4"/>
    <p:sldId id="286" r:id="rId5"/>
    <p:sldId id="285" r:id="rId6"/>
    <p:sldId id="289" r:id="rId7"/>
    <p:sldId id="283" r:id="rId8"/>
    <p:sldId id="284" r:id="rId9"/>
    <p:sldId id="266" r:id="rId10"/>
    <p:sldId id="280" r:id="rId11"/>
    <p:sldId id="281" r:id="rId12"/>
    <p:sldId id="282" r:id="rId13"/>
    <p:sldId id="290" r:id="rId14"/>
    <p:sldId id="267" r:id="rId15"/>
    <p:sldId id="276" r:id="rId16"/>
    <p:sldId id="262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74" r:id="rId25"/>
    <p:sldId id="272" r:id="rId26"/>
    <p:sldId id="271" r:id="rId27"/>
    <p:sldId id="277" r:id="rId28"/>
    <p:sldId id="264" r:id="rId29"/>
    <p:sldId id="279" r:id="rId30"/>
    <p:sldId id="265" r:id="rId31"/>
    <p:sldId id="275" r:id="rId3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00"/>
    <a:srgbClr val="0033FF"/>
    <a:srgbClr val="3371FF"/>
    <a:srgbClr val="6D9AFF"/>
    <a:srgbClr val="578BFF"/>
    <a:srgbClr val="FF5729"/>
    <a:srgbClr val="0000FF"/>
    <a:srgbClr val="009BFF"/>
    <a:srgbClr val="FF66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429" autoAdjust="0"/>
  </p:normalViewPr>
  <p:slideViewPr>
    <p:cSldViewPr>
      <p:cViewPr varScale="1">
        <p:scale>
          <a:sx n="77" d="100"/>
          <a:sy n="77" d="100"/>
        </p:scale>
        <p:origin x="108" y="7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FE381-DE18-47F9-B495-040DAF1751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3A2D3-5611-4893-9F1B-B32045CD51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56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表紙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875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89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画像②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8246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F#</a:t>
            </a:r>
            <a:r>
              <a:rPr kumimoji="1" lang="ja-JP" altLang="en-US" dirty="0"/>
              <a:t>ベースの</a:t>
            </a:r>
            <a:r>
              <a:rPr kumimoji="1" lang="en-US" altLang="ja-JP" dirty="0" err="1"/>
              <a:t>Aqualis</a:t>
            </a:r>
            <a:r>
              <a:rPr kumimoji="1" lang="ja-JP" altLang="en-US" dirty="0"/>
              <a:t>でコードを書き、</a:t>
            </a:r>
            <a:r>
              <a:rPr kumimoji="1" lang="en-US" altLang="ja-JP" dirty="0"/>
              <a:t>HTML</a:t>
            </a:r>
            <a:r>
              <a:rPr kumimoji="1" lang="ja-JP" altLang="en-US" dirty="0"/>
              <a:t>、</a:t>
            </a:r>
            <a:r>
              <a:rPr kumimoji="1" lang="en-US" altLang="ja-JP" dirty="0"/>
              <a:t>JS</a:t>
            </a:r>
            <a:r>
              <a:rPr kumimoji="1" lang="ja-JP" altLang="en-US" dirty="0"/>
              <a:t>を自動生成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357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無くても良いスライド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387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画像②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58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背景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739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画像②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338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736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E5B6CAC6-6EAD-4B6B-A77C-31C1A25B21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702" r="12297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797152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564909"/>
            <a:ext cx="7772400" cy="147002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4F03C32B-2689-4787-9F32-61FE94709E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82" y="83468"/>
            <a:ext cx="5105990" cy="174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9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948264" y="5328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原ノ味角ゴシック Medium" panose="020B0600000000000000" pitchFamily="34" charset="-128"/>
                <a:ea typeface="原ノ味角ゴシック Medium" panose="020B0600000000000000" pitchFamily="34" charset="-128"/>
                <a:cs typeface="Times New Roman" pitchFamily="18" charset="0"/>
              </a:defRPr>
            </a:lvl1pPr>
          </a:lstStyle>
          <a:p>
            <a:fld id="{AC40D369-D8A1-4FCD-B4F3-6134ECBD7DC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3352" y="332656"/>
            <a:ext cx="8064896" cy="634082"/>
          </a:xfrm>
        </p:spPr>
        <p:txBody>
          <a:bodyPr/>
          <a:lstStyle>
            <a:lvl1pPr>
              <a:defRPr sz="2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原ノ味角ゴシック Medium" panose="020B0600000000000000" pitchFamily="34" charset="-128"/>
                <a:ea typeface="原ノ味角ゴシック Medium" panose="020B0600000000000000" pitchFamily="34" charset="-128"/>
                <a:cs typeface="原ノ味角ゴシック Medium" panose="020B06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CDAFEB-E179-6A04-A722-5BBCFA7A4C8A}"/>
              </a:ext>
            </a:extLst>
          </p:cNvPr>
          <p:cNvSpPr/>
          <p:nvPr userDrawn="1"/>
        </p:nvSpPr>
        <p:spPr>
          <a:xfrm>
            <a:off x="1" y="329880"/>
            <a:ext cx="263351" cy="634082"/>
          </a:xfrm>
          <a:prstGeom prst="rect">
            <a:avLst/>
          </a:prstGeom>
          <a:gradFill flip="none" rotWithShape="1">
            <a:gsLst>
              <a:gs pos="0">
                <a:srgbClr val="3371FF"/>
              </a:gs>
              <a:gs pos="100000">
                <a:srgbClr val="5B8EF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3371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8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E2FC2A-D35D-4F48-ADEF-CA25DBA6CA87}"/>
              </a:ext>
            </a:extLst>
          </p:cNvPr>
          <p:cNvSpPr/>
          <p:nvPr userDrawn="1"/>
        </p:nvSpPr>
        <p:spPr>
          <a:xfrm>
            <a:off x="426553" y="1920329"/>
            <a:ext cx="263351" cy="634082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3371FF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3A17B99-4D00-4EC0-BC76-F1C61B67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04" y="1920329"/>
            <a:ext cx="7878540" cy="634082"/>
          </a:xfrm>
        </p:spPr>
        <p:txBody>
          <a:bodyPr/>
          <a:lstStyle>
            <a:lvl1pPr>
              <a:defRPr sz="3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98050A4C-F284-4336-8311-9F4BE1CCA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8264" y="5328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原ノ味角ゴシック Medium" panose="020B0600000000000000" pitchFamily="34" charset="-128"/>
                <a:ea typeface="原ノ味角ゴシック Medium" panose="020B0600000000000000" pitchFamily="34" charset="-128"/>
                <a:cs typeface="Times New Roman" pitchFamily="18" charset="0"/>
              </a:defRPr>
            </a:lvl1pPr>
          </a:lstStyle>
          <a:p>
            <a:fld id="{AC40D369-D8A1-4FCD-B4F3-6134ECBD7DC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29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" y="103646"/>
            <a:ext cx="9143999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244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685783" rtl="0" eaLnBrk="1" latinLnBrk="0" hangingPunct="1">
        <a:spcBef>
          <a:spcPct val="0"/>
        </a:spcBef>
        <a:buNone/>
        <a:defRPr kumimoji="1" sz="2100" b="0" kern="1200">
          <a:solidFill>
            <a:schemeClr val="tx1">
              <a:lumMod val="50000"/>
              <a:lumOff val="50000"/>
            </a:schemeClr>
          </a:solidFill>
          <a:effectLst/>
          <a:latin typeface="原ノ味角ゴシック Medium" panose="020B0600000000000000" pitchFamily="34" charset="-128"/>
          <a:ea typeface="原ノ味角ゴシック Medium" panose="020B0600000000000000" pitchFamily="34" charset="-128"/>
          <a:cs typeface="+mj-cs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kumimoji="1" lang="ja-JP" altLang="en-US" dirty="0"/>
              <a:t>授業スライド向けアニメーション生成</a:t>
            </a:r>
            <a:br>
              <a:rPr kumimoji="1" lang="en-US" altLang="ja-JP" dirty="0"/>
            </a:br>
            <a:r>
              <a:rPr kumimoji="1" lang="ja-JP" altLang="en-US" dirty="0"/>
              <a:t>フレームワークの開発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9512" y="573325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北見工業大学　情報デザイン・コミュニケーション工学コース</a:t>
            </a:r>
            <a:endParaRPr lang="en-US" altLang="ja-JP" sz="2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r>
              <a:rPr lang="ja-JP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数理波動システム研究室　　　西村　美春</a:t>
            </a:r>
            <a:endParaRPr lang="en-US" altLang="ja-JP" sz="2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4209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研究背景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559286A-2C26-45EA-B028-B5F6A664A236}"/>
              </a:ext>
            </a:extLst>
          </p:cNvPr>
          <p:cNvGrpSpPr/>
          <p:nvPr/>
        </p:nvGrpSpPr>
        <p:grpSpPr>
          <a:xfrm>
            <a:off x="395536" y="1253395"/>
            <a:ext cx="5733241" cy="369332"/>
            <a:chOff x="562931" y="1428431"/>
            <a:chExt cx="5733241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0BB8A0A-6879-42EF-AA3A-2261DDE55198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83A19EF-9C00-4FB2-8AD4-D11D42F1D6F5}"/>
                </a:ext>
              </a:extLst>
            </p:cNvPr>
            <p:cNvSpPr txBox="1"/>
            <p:nvPr/>
          </p:nvSpPr>
          <p:spPr>
            <a:xfrm>
              <a:off x="669760" y="1428431"/>
              <a:ext cx="562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既存の授業スライド作成ツール（例：</a:t>
              </a: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PowerPoint</a:t>
              </a:r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）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667E47-9FA8-4308-AE40-55C4921236B9}"/>
              </a:ext>
            </a:extLst>
          </p:cNvPr>
          <p:cNvSpPr/>
          <p:nvPr/>
        </p:nvSpPr>
        <p:spPr>
          <a:xfrm>
            <a:off x="539552" y="3662966"/>
            <a:ext cx="8064896" cy="2796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PowerPoint</a:t>
            </a:r>
            <a:r>
              <a:rPr kumimoji="1" lang="ja-JP" altLang="en-US" dirty="0">
                <a:solidFill>
                  <a:schemeClr val="bg1">
                    <a:lumMod val="75000"/>
                  </a:schemeClr>
                </a:solidFill>
              </a:rPr>
              <a:t>を用いたアニメーション作成手順の例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18F084-8387-449C-91A6-7729D6397B2B}"/>
              </a:ext>
            </a:extLst>
          </p:cNvPr>
          <p:cNvSpPr txBox="1"/>
          <p:nvPr/>
        </p:nvSpPr>
        <p:spPr>
          <a:xfrm>
            <a:off x="539552" y="1622727"/>
            <a:ext cx="4166525" cy="1670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マウスで位置調整する必要がある</a:t>
            </a:r>
            <a:endParaRPr kumimoji="1"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アニメーション作成に時間がかかる</a:t>
            </a:r>
            <a:endParaRPr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複数のツールを使用</a:t>
            </a:r>
          </a:p>
        </p:txBody>
      </p:sp>
    </p:spTree>
    <p:extLst>
      <p:ext uri="{BB962C8B-B14F-4D97-AF65-F5344CB8AC3E}">
        <p14:creationId xmlns:p14="http://schemas.microsoft.com/office/powerpoint/2010/main" val="297380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研究目的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6775146-4AF3-4AB4-BF48-603F9BA16B06}"/>
              </a:ext>
            </a:extLst>
          </p:cNvPr>
          <p:cNvGrpSpPr/>
          <p:nvPr/>
        </p:nvGrpSpPr>
        <p:grpSpPr>
          <a:xfrm>
            <a:off x="395536" y="1246107"/>
            <a:ext cx="4677311" cy="369332"/>
            <a:chOff x="562931" y="1428431"/>
            <a:chExt cx="4677311" cy="36933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6F2C151-43EF-422C-806B-D280D186140B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5CCBC1C-3F80-4404-BDF6-C79706DDE1FC}"/>
                </a:ext>
              </a:extLst>
            </p:cNvPr>
            <p:cNvSpPr txBox="1"/>
            <p:nvPr/>
          </p:nvSpPr>
          <p:spPr>
            <a:xfrm>
              <a:off x="669760" y="1428431"/>
              <a:ext cx="45704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授業スライド作成における作業負担の軽減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8914F37-8778-4DF8-B46F-B5092249F989}"/>
              </a:ext>
            </a:extLst>
          </p:cNvPr>
          <p:cNvGrpSpPr/>
          <p:nvPr/>
        </p:nvGrpSpPr>
        <p:grpSpPr>
          <a:xfrm>
            <a:off x="395536" y="2201565"/>
            <a:ext cx="3523149" cy="369332"/>
            <a:chOff x="562931" y="2010458"/>
            <a:chExt cx="3523149" cy="369332"/>
          </a:xfrm>
        </p:grpSpPr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E6679751-CAD3-4A87-80F0-0E3E35DE472C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3523149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E767357-4987-4D61-8E98-717DC7BC5CF6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1F39D0D-33AF-4DFB-B396-541EB77E0659}"/>
                </a:ext>
              </a:extLst>
            </p:cNvPr>
            <p:cNvSpPr txBox="1"/>
            <p:nvPr/>
          </p:nvSpPr>
          <p:spPr>
            <a:xfrm>
              <a:off x="669760" y="2010458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図形位置、大きさを数値で制御</a:t>
              </a:r>
            </a:p>
          </p:txBody>
        </p:sp>
      </p:grp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A73039-7739-4F88-9103-54654C56583E}"/>
              </a:ext>
            </a:extLst>
          </p:cNvPr>
          <p:cNvSpPr/>
          <p:nvPr/>
        </p:nvSpPr>
        <p:spPr>
          <a:xfrm>
            <a:off x="395536" y="2850607"/>
            <a:ext cx="3816424" cy="3674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dirty="0"/>
              <a:t>h</a:t>
            </a:r>
            <a:r>
              <a:rPr kumimoji="1" lang="en-US" altLang="ja-JP" dirty="0"/>
              <a:t>tml</a:t>
            </a:r>
            <a:r>
              <a:rPr kumimoji="1" lang="ja-JP" altLang="en-US" dirty="0"/>
              <a:t>の画像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82BF372-C515-4884-858D-CDC2341E818B}"/>
              </a:ext>
            </a:extLst>
          </p:cNvPr>
          <p:cNvSpPr/>
          <p:nvPr/>
        </p:nvSpPr>
        <p:spPr>
          <a:xfrm>
            <a:off x="4932042" y="2850606"/>
            <a:ext cx="3816424" cy="3674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の画像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E3EBD214-C020-47F8-A9BC-D946F728AF41}"/>
              </a:ext>
            </a:extLst>
          </p:cNvPr>
          <p:cNvGrpSpPr/>
          <p:nvPr/>
        </p:nvGrpSpPr>
        <p:grpSpPr>
          <a:xfrm>
            <a:off x="4732431" y="2201807"/>
            <a:ext cx="4215646" cy="369332"/>
            <a:chOff x="562931" y="2010458"/>
            <a:chExt cx="4215646" cy="369332"/>
          </a:xfrm>
        </p:grpSpPr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FB7480C0-ED6D-425A-AB8F-1CE8C3962416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4215646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50959C58-5EC3-4560-8861-DEE3FF6072FA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EEA37A1-5247-4479-A4F9-6C68102A3364}"/>
                </a:ext>
              </a:extLst>
            </p:cNvPr>
            <p:cNvSpPr txBox="1"/>
            <p:nvPr/>
          </p:nvSpPr>
          <p:spPr>
            <a:xfrm>
              <a:off x="669760" y="2010458"/>
              <a:ext cx="41088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波形などのアニメーションを簡単描画</a:t>
              </a:r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107CA7-1BD6-4A64-B339-5F2BCE9CB258}"/>
              </a:ext>
            </a:extLst>
          </p:cNvPr>
          <p:cNvSpPr txBox="1"/>
          <p:nvPr/>
        </p:nvSpPr>
        <p:spPr>
          <a:xfrm>
            <a:off x="502365" y="170240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→</a:t>
            </a:r>
            <a:r>
              <a:rPr kumimoji="1" lang="ja-JP" altLang="en-US" dirty="0">
                <a:solidFill>
                  <a:srgbClr val="FF0000"/>
                </a:solidFill>
              </a:rPr>
              <a:t>ソースコードで手軽に</a:t>
            </a:r>
          </a:p>
        </p:txBody>
      </p:sp>
    </p:spTree>
    <p:extLst>
      <p:ext uri="{BB962C8B-B14F-4D97-AF65-F5344CB8AC3E}">
        <p14:creationId xmlns:p14="http://schemas.microsoft.com/office/powerpoint/2010/main" val="401322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54B39CB-D057-4829-9918-B67D6D490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B7F79C3-A227-4ACF-969F-4BAECD63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Python</a:t>
            </a:r>
            <a:r>
              <a:rPr kumimoji="1" lang="ja-JP" altLang="en-US" dirty="0"/>
              <a:t>の課題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399607-46E4-446A-9DCF-C420CCEA1EA6}"/>
              </a:ext>
            </a:extLst>
          </p:cNvPr>
          <p:cNvSpPr txBox="1"/>
          <p:nvPr/>
        </p:nvSpPr>
        <p:spPr>
          <a:xfrm>
            <a:off x="500616" y="189480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数式やグラフをアニメーションとして動画化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6956E423-57AA-4DD2-8EC6-FE6A5A67368E}"/>
              </a:ext>
            </a:extLst>
          </p:cNvPr>
          <p:cNvGrpSpPr/>
          <p:nvPr/>
        </p:nvGrpSpPr>
        <p:grpSpPr>
          <a:xfrm>
            <a:off x="395536" y="1246107"/>
            <a:ext cx="1044906" cy="369332"/>
            <a:chOff x="562931" y="1428431"/>
            <a:chExt cx="1044906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02A7176-F255-4C21-99E2-493B1317893C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851897E-C448-4E7D-B480-7455D51A95F1}"/>
                </a:ext>
              </a:extLst>
            </p:cNvPr>
            <p:cNvSpPr txBox="1"/>
            <p:nvPr/>
          </p:nvSpPr>
          <p:spPr>
            <a:xfrm>
              <a:off x="669760" y="1428431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Manim</a:t>
              </a:r>
              <a:endPara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F1ED8C2-E96B-4DBF-96B1-B9F06D385ABE}"/>
              </a:ext>
            </a:extLst>
          </p:cNvPr>
          <p:cNvSpPr/>
          <p:nvPr/>
        </p:nvSpPr>
        <p:spPr>
          <a:xfrm>
            <a:off x="489871" y="2569284"/>
            <a:ext cx="8064896" cy="1173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イメージ図</a:t>
            </a:r>
            <a:endParaRPr kumimoji="1" lang="en-US" altLang="ja-JP" dirty="0"/>
          </a:p>
          <a:p>
            <a:r>
              <a:rPr lang="en-US" altLang="ja-JP" dirty="0"/>
              <a:t>Python</a:t>
            </a:r>
            <a:r>
              <a:rPr lang="ja-JP" altLang="en-US" dirty="0"/>
              <a:t>　コード書く　→　</a:t>
            </a:r>
            <a:r>
              <a:rPr lang="en-US" altLang="ja-JP" dirty="0" err="1"/>
              <a:t>Manim</a:t>
            </a:r>
            <a:r>
              <a:rPr lang="ja-JP" altLang="en-US" dirty="0"/>
              <a:t>　動画化</a:t>
            </a:r>
            <a:endParaRPr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F9DEE9F-5980-4EF4-AA97-D10193572D7C}"/>
              </a:ext>
            </a:extLst>
          </p:cNvPr>
          <p:cNvSpPr txBox="1"/>
          <p:nvPr/>
        </p:nvSpPr>
        <p:spPr>
          <a:xfrm>
            <a:off x="506129" y="4696652"/>
            <a:ext cx="5032147" cy="11169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ja-JP" altLang="en-US" dirty="0"/>
              <a:t>逐次処理のため</a:t>
            </a:r>
            <a:r>
              <a:rPr kumimoji="1" lang="ja-JP" altLang="en-US" dirty="0">
                <a:solidFill>
                  <a:srgbClr val="FF0000"/>
                </a:solidFill>
              </a:rPr>
              <a:t>実行が遅い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ja-JP" altLang="en-US" dirty="0"/>
              <a:t>→複雑な図形や数式だと処理時間が膨大になる</a:t>
            </a:r>
            <a:endParaRPr kumimoji="1" lang="ja-JP" altLang="en-US" dirty="0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DF6927B9-2DCF-4398-8BC8-977EC4C635BE}"/>
              </a:ext>
            </a:extLst>
          </p:cNvPr>
          <p:cNvGrpSpPr/>
          <p:nvPr/>
        </p:nvGrpSpPr>
        <p:grpSpPr>
          <a:xfrm>
            <a:off x="370433" y="4045201"/>
            <a:ext cx="2933244" cy="369332"/>
            <a:chOff x="562931" y="1428431"/>
            <a:chExt cx="2933244" cy="369332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F3A4ABAD-3FD2-42A5-BEF4-BFE272C78F72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FC67D7E7-BEE4-46D2-94EC-EDEFB9649817}"/>
                </a:ext>
              </a:extLst>
            </p:cNvPr>
            <p:cNvSpPr txBox="1"/>
            <p:nvPr/>
          </p:nvSpPr>
          <p:spPr>
            <a:xfrm>
              <a:off x="669760" y="1428431"/>
              <a:ext cx="2826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Python</a:t>
              </a:r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では不十分な理由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463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6F00990-649D-4537-9AC3-C4C50AE02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B57986-AFFD-497B-8118-D34A25A77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解決策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F1BB26C-D87C-B673-7D3A-1D623EB4BEA4}"/>
              </a:ext>
            </a:extLst>
          </p:cNvPr>
          <p:cNvSpPr/>
          <p:nvPr/>
        </p:nvSpPr>
        <p:spPr>
          <a:xfrm>
            <a:off x="395536" y="1259570"/>
            <a:ext cx="8352928" cy="5265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dirty="0"/>
              <a:t>図</a:t>
            </a:r>
            <a:endParaRPr lang="en-US" altLang="ja-JP" dirty="0"/>
          </a:p>
          <a:p>
            <a:r>
              <a:rPr kumimoji="1" lang="en-US" altLang="ja-JP" dirty="0" err="1"/>
              <a:t>Aqualis</a:t>
            </a:r>
            <a:r>
              <a:rPr lang="ja-JP" altLang="en-US" dirty="0"/>
              <a:t>を</a:t>
            </a:r>
            <a:r>
              <a:rPr kumimoji="1" lang="en-US" altLang="ja-JP" dirty="0"/>
              <a:t>C</a:t>
            </a:r>
            <a:r>
              <a:rPr kumimoji="1" lang="ja-JP" altLang="en-US" dirty="0"/>
              <a:t>言語や</a:t>
            </a:r>
            <a:r>
              <a:rPr kumimoji="1" lang="en-US" altLang="ja-JP" dirty="0"/>
              <a:t>Fortran</a:t>
            </a:r>
            <a:r>
              <a:rPr kumimoji="1" lang="ja-JP" altLang="en-US" dirty="0"/>
              <a:t>に変換している図</a:t>
            </a:r>
            <a:endParaRPr kumimoji="1" lang="en-US" altLang="ja-JP" dirty="0"/>
          </a:p>
          <a:p>
            <a:r>
              <a:rPr lang="ja-JP" altLang="en-US" dirty="0"/>
              <a:t>北原さんのスライド</a:t>
            </a:r>
            <a:r>
              <a:rPr lang="en-US" altLang="ja-JP" dirty="0"/>
              <a:t>5</a:t>
            </a:r>
            <a:r>
              <a:rPr lang="ja-JP" altLang="en-US" dirty="0"/>
              <a:t>のような図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3242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F226C3F-04DD-13C9-56A2-86DB260A4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ABA9C4E-B86E-4E55-3FAB-7ECCDED0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原理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8DE5E7C-6B58-DA32-44EE-8CDE82268905}"/>
              </a:ext>
            </a:extLst>
          </p:cNvPr>
          <p:cNvGrpSpPr/>
          <p:nvPr/>
        </p:nvGrpSpPr>
        <p:grpSpPr>
          <a:xfrm>
            <a:off x="395536" y="2543509"/>
            <a:ext cx="1907322" cy="369332"/>
            <a:chOff x="562931" y="1428431"/>
            <a:chExt cx="1907322" cy="3693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6975BE9-3FC1-51F4-919E-3F8A2568D9F5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6E83846-4FED-549B-AB38-BC84E2DCF6D0}"/>
                </a:ext>
              </a:extLst>
            </p:cNvPr>
            <p:cNvSpPr txBox="1"/>
            <p:nvPr/>
          </p:nvSpPr>
          <p:spPr>
            <a:xfrm>
              <a:off x="669760" y="1428431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ページ切り替え</a:t>
              </a:r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47E4AA-26FA-6209-F515-601E5FAC4807}"/>
              </a:ext>
            </a:extLst>
          </p:cNvPr>
          <p:cNvSpPr txBox="1"/>
          <p:nvPr/>
        </p:nvSpPr>
        <p:spPr>
          <a:xfrm>
            <a:off x="502365" y="3192210"/>
            <a:ext cx="6970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表示（</a:t>
            </a:r>
            <a:r>
              <a:rPr lang="en-US" altLang="ja-JP" dirty="0"/>
              <a:t>visible</a:t>
            </a:r>
            <a:r>
              <a:rPr lang="ja-JP" altLang="en-US" dirty="0"/>
              <a:t>）、非表示（</a:t>
            </a:r>
            <a:r>
              <a:rPr lang="en-US" altLang="ja-JP" dirty="0"/>
              <a:t>hidden</a:t>
            </a:r>
            <a:r>
              <a:rPr lang="ja-JP" altLang="en-US" dirty="0"/>
              <a:t>）を切り替えてページ遷移を表現</a:t>
            </a:r>
            <a:endParaRPr kumimoji="1" lang="ja-JP" altLang="en-US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959A9C3-B6F0-44AC-A518-0DE34C5D550B}"/>
              </a:ext>
            </a:extLst>
          </p:cNvPr>
          <p:cNvGrpSpPr/>
          <p:nvPr/>
        </p:nvGrpSpPr>
        <p:grpSpPr>
          <a:xfrm>
            <a:off x="395536" y="1246107"/>
            <a:ext cx="1676489" cy="369332"/>
            <a:chOff x="562931" y="1428431"/>
            <a:chExt cx="1676489" cy="369332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0391DE90-3F2A-44FD-8DAD-FC7CBDE18B0F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309877C-1380-4BEF-A068-CA2AFB76193B}"/>
                </a:ext>
              </a:extLst>
            </p:cNvPr>
            <p:cNvSpPr txBox="1"/>
            <p:nvPr/>
          </p:nvSpPr>
          <p:spPr>
            <a:xfrm>
              <a:off x="669760" y="1428431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ソースコード</a:t>
              </a:r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680D10-367F-46CD-AEAD-8597394381D6}"/>
              </a:ext>
            </a:extLst>
          </p:cNvPr>
          <p:cNvSpPr txBox="1"/>
          <p:nvPr/>
        </p:nvSpPr>
        <p:spPr>
          <a:xfrm>
            <a:off x="506078" y="1894808"/>
            <a:ext cx="6164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Aqualis</a:t>
            </a:r>
            <a:r>
              <a:rPr kumimoji="1" lang="ja-JP" altLang="en-US" dirty="0"/>
              <a:t>でコード記述　→　</a:t>
            </a:r>
            <a:r>
              <a:rPr kumimoji="1" lang="en-US" altLang="ja-JP" dirty="0"/>
              <a:t>HTML</a:t>
            </a:r>
            <a:r>
              <a:rPr kumimoji="1" lang="ja-JP" altLang="en-US" dirty="0"/>
              <a:t>、</a:t>
            </a:r>
            <a:r>
              <a:rPr kumimoji="1" lang="en-US" altLang="ja-JP" dirty="0"/>
              <a:t>JavaScript</a:t>
            </a:r>
            <a:r>
              <a:rPr kumimoji="1" lang="ja-JP" altLang="en-US" dirty="0"/>
              <a:t>を自動生成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1194B94-9577-4863-A239-4DD3AFC1134C}"/>
              </a:ext>
            </a:extLst>
          </p:cNvPr>
          <p:cNvGrpSpPr/>
          <p:nvPr/>
        </p:nvGrpSpPr>
        <p:grpSpPr>
          <a:xfrm>
            <a:off x="395536" y="3840911"/>
            <a:ext cx="3061484" cy="369332"/>
            <a:chOff x="562931" y="1428431"/>
            <a:chExt cx="3061484" cy="36933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1EC21E6D-2EC1-4FB6-BB3D-8C186CA5563C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6216E68-3AF2-4F57-9E07-A7DF14FB04CD}"/>
                </a:ext>
              </a:extLst>
            </p:cNvPr>
            <p:cNvSpPr txBox="1"/>
            <p:nvPr/>
          </p:nvSpPr>
          <p:spPr>
            <a:xfrm>
              <a:off x="669760" y="1428431"/>
              <a:ext cx="2954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キャラクター・音声・字幕</a:t>
              </a:r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83B829-5784-480E-8D38-23CF74C55488}"/>
              </a:ext>
            </a:extLst>
          </p:cNvPr>
          <p:cNvSpPr txBox="1"/>
          <p:nvPr/>
        </p:nvSpPr>
        <p:spPr>
          <a:xfrm>
            <a:off x="502365" y="4489612"/>
            <a:ext cx="7680308" cy="1670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ページごとにキャラクター・音声</a:t>
            </a:r>
            <a:r>
              <a:rPr lang="ja-JP" altLang="en-US" dirty="0"/>
              <a:t>・字幕をファイル指定</a:t>
            </a:r>
            <a:endParaRPr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ページ</a:t>
            </a:r>
            <a:r>
              <a:rPr lang="ja-JP" altLang="en-US" dirty="0"/>
              <a:t>切り替えで割り当てた素材を表示</a:t>
            </a:r>
            <a:endParaRPr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チェックボックスは表示（</a:t>
            </a:r>
            <a:r>
              <a:rPr kumimoji="1" lang="en-US" altLang="ja-JP" dirty="0"/>
              <a:t>visible</a:t>
            </a:r>
            <a:r>
              <a:rPr kumimoji="1" lang="ja-JP" altLang="en-US" dirty="0"/>
              <a:t>）、非表示（</a:t>
            </a:r>
            <a:r>
              <a:rPr kumimoji="1" lang="en-US" altLang="ja-JP" dirty="0"/>
              <a:t>hidden</a:t>
            </a:r>
            <a:r>
              <a:rPr kumimoji="1" lang="ja-JP" altLang="en-US" dirty="0"/>
              <a:t>）を切り替える</a:t>
            </a:r>
          </a:p>
        </p:txBody>
      </p:sp>
    </p:spTree>
    <p:extLst>
      <p:ext uri="{BB962C8B-B14F-4D97-AF65-F5344CB8AC3E}">
        <p14:creationId xmlns:p14="http://schemas.microsoft.com/office/powerpoint/2010/main" val="20769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アニメーション制御の実装</a:t>
            </a:r>
            <a:endParaRPr kumimoji="1" lang="ja-JP" altLang="en-US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03A1424-9F77-49AA-8B4C-442C914F1FB3}"/>
              </a:ext>
            </a:extLst>
          </p:cNvPr>
          <p:cNvGrpSpPr/>
          <p:nvPr/>
        </p:nvGrpSpPr>
        <p:grpSpPr>
          <a:xfrm>
            <a:off x="406107" y="1246107"/>
            <a:ext cx="1445657" cy="369332"/>
            <a:chOff x="562931" y="1428431"/>
            <a:chExt cx="1445657" cy="369332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A797DC4-2BD1-4DB1-AA02-45BC9E32BDF4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109EC40-97AB-4CF9-B185-5DD0C15B08A9}"/>
                </a:ext>
              </a:extLst>
            </p:cNvPr>
            <p:cNvSpPr txBox="1"/>
            <p:nvPr/>
          </p:nvSpPr>
          <p:spPr>
            <a:xfrm>
              <a:off x="669760" y="1428431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ボタン表示</a:t>
              </a:r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C2EA1A1-5691-4C69-B10D-32953132621B}"/>
              </a:ext>
            </a:extLst>
          </p:cNvPr>
          <p:cNvSpPr/>
          <p:nvPr/>
        </p:nvSpPr>
        <p:spPr>
          <a:xfrm>
            <a:off x="447275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lang="ja-JP" altLang="en-US" dirty="0"/>
              <a:t>ボタンを表示するコード</a:t>
            </a:r>
            <a:endParaRPr kumimoji="1" lang="en-US" altLang="ja-JP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60A7632-AD39-4D83-AECF-F3D6D09C8049}"/>
              </a:ext>
            </a:extLst>
          </p:cNvPr>
          <p:cNvSpPr/>
          <p:nvPr/>
        </p:nvSpPr>
        <p:spPr>
          <a:xfrm>
            <a:off x="5120319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ボタンが表示されている画像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88798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アニメーション制御の実装</a:t>
            </a:r>
            <a:endParaRPr kumimoji="1" lang="ja-JP" altLang="en-US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03A1424-9F77-49AA-8B4C-442C914F1FB3}"/>
              </a:ext>
            </a:extLst>
          </p:cNvPr>
          <p:cNvGrpSpPr/>
          <p:nvPr/>
        </p:nvGrpSpPr>
        <p:grpSpPr>
          <a:xfrm>
            <a:off x="406107" y="1246107"/>
            <a:ext cx="1907322" cy="369332"/>
            <a:chOff x="562931" y="1428431"/>
            <a:chExt cx="1907322" cy="369332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A797DC4-2BD1-4DB1-AA02-45BC9E32BDF4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109EC40-97AB-4CF9-B185-5DD0C15B08A9}"/>
                </a:ext>
              </a:extLst>
            </p:cNvPr>
            <p:cNvSpPr txBox="1"/>
            <p:nvPr/>
          </p:nvSpPr>
          <p:spPr>
            <a:xfrm>
              <a:off x="669760" y="1428431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各ボタンの動作</a:t>
              </a:r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C2EA1A1-5691-4C69-B10D-32953132621B}"/>
              </a:ext>
            </a:extLst>
          </p:cNvPr>
          <p:cNvSpPr/>
          <p:nvPr/>
        </p:nvSpPr>
        <p:spPr>
          <a:xfrm>
            <a:off x="447275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lang="ja-JP" altLang="en-US" dirty="0"/>
              <a:t>ボタンの動作を説明するコード</a:t>
            </a:r>
            <a:endParaRPr kumimoji="1" lang="en-US" altLang="ja-JP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60A7632-AD39-4D83-AECF-F3D6D09C8049}"/>
              </a:ext>
            </a:extLst>
          </p:cNvPr>
          <p:cNvSpPr/>
          <p:nvPr/>
        </p:nvSpPr>
        <p:spPr>
          <a:xfrm>
            <a:off x="5120719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lang="ja-JP" altLang="en-US" dirty="0"/>
              <a:t>動かしている画像か動画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9566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図形・テキスト・画像のアニメーション制御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E71E24-E275-4AB4-94F7-4835B72DA1AB}"/>
              </a:ext>
            </a:extLst>
          </p:cNvPr>
          <p:cNvSpPr/>
          <p:nvPr/>
        </p:nvSpPr>
        <p:spPr>
          <a:xfrm>
            <a:off x="539552" y="1246107"/>
            <a:ext cx="8064895" cy="527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lang="ja-JP" altLang="en-US" dirty="0"/>
              <a:t>線を描くコードの説明（定義のほう　</a:t>
            </a:r>
            <a:r>
              <a:rPr lang="en-US" altLang="ja-JP" dirty="0"/>
              <a:t>.fs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どのように時間を制御しているか</a:t>
            </a:r>
            <a:endParaRPr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61081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図形・テキスト・画像のアニメーション制御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E71E24-E275-4AB4-94F7-4835B72DA1AB}"/>
              </a:ext>
            </a:extLst>
          </p:cNvPr>
          <p:cNvSpPr/>
          <p:nvPr/>
        </p:nvSpPr>
        <p:spPr>
          <a:xfrm>
            <a:off x="447275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kumimoji="1" lang="ja-JP" altLang="en-US" dirty="0"/>
              <a:t>波形アニメーションのコード</a:t>
            </a:r>
            <a:endParaRPr kumimoji="1" lang="en-US" altLang="ja-JP" dirty="0"/>
          </a:p>
          <a:p>
            <a:r>
              <a:rPr kumimoji="1" lang="ja-JP" altLang="en-US" dirty="0"/>
              <a:t>（実際に動画を作成する際に使用するほう　</a:t>
            </a:r>
            <a:r>
              <a:rPr kumimoji="1" lang="en-US" altLang="ja-JP" dirty="0" err="1"/>
              <a:t>fsx</a:t>
            </a:r>
            <a:r>
              <a:rPr kumimoji="1" lang="ja-JP" altLang="en-US" dirty="0"/>
              <a:t>ファイル）</a:t>
            </a:r>
            <a:endParaRPr kumimoji="1" lang="en-US" altLang="ja-JP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261CC49-ACFC-425C-B7EF-BE2B07BBE518}"/>
              </a:ext>
            </a:extLst>
          </p:cNvPr>
          <p:cNvGrpSpPr/>
          <p:nvPr/>
        </p:nvGrpSpPr>
        <p:grpSpPr>
          <a:xfrm>
            <a:off x="395536" y="1246107"/>
            <a:ext cx="2599819" cy="369332"/>
            <a:chOff x="562931" y="1428431"/>
            <a:chExt cx="2599819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F656F7F-0C6F-4390-BEB2-1240E1FC5CE1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75DE23D-9A57-42EA-9D15-170A8CF9DA11}"/>
                </a:ext>
              </a:extLst>
            </p:cNvPr>
            <p:cNvSpPr txBox="1"/>
            <p:nvPr/>
          </p:nvSpPr>
          <p:spPr>
            <a:xfrm>
              <a:off x="669760" y="1428431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波形のアニメーション</a:t>
              </a:r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9B1D8FB-BB65-4298-A00A-83121C9DAAA1}"/>
              </a:ext>
            </a:extLst>
          </p:cNvPr>
          <p:cNvSpPr/>
          <p:nvPr/>
        </p:nvSpPr>
        <p:spPr>
          <a:xfrm>
            <a:off x="5120721" y="192419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表示される画像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66974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11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図形・テキスト・画像のアニメーション制御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E71E24-E275-4AB4-94F7-4835B72DA1AB}"/>
              </a:ext>
            </a:extLst>
          </p:cNvPr>
          <p:cNvSpPr/>
          <p:nvPr/>
        </p:nvSpPr>
        <p:spPr>
          <a:xfrm>
            <a:off x="442703" y="2577258"/>
            <a:ext cx="3576006" cy="1464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kumimoji="1" lang="ja-JP" altLang="en-US" dirty="0"/>
              <a:t>図形アニメーションのコード</a:t>
            </a:r>
            <a:endParaRPr kumimoji="1" lang="en-US" altLang="ja-JP" dirty="0"/>
          </a:p>
          <a:p>
            <a:r>
              <a:rPr lang="ja-JP" altLang="en-US" dirty="0"/>
              <a:t>線形、</a:t>
            </a:r>
            <a:endParaRPr kumimoji="1" lang="en-US" altLang="ja-JP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261CC49-ACFC-425C-B7EF-BE2B07BBE518}"/>
              </a:ext>
            </a:extLst>
          </p:cNvPr>
          <p:cNvGrpSpPr/>
          <p:nvPr/>
        </p:nvGrpSpPr>
        <p:grpSpPr>
          <a:xfrm>
            <a:off x="395536" y="1246107"/>
            <a:ext cx="2599819" cy="369332"/>
            <a:chOff x="562931" y="1428431"/>
            <a:chExt cx="2599819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F656F7F-0C6F-4390-BEB2-1240E1FC5CE1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75DE23D-9A57-42EA-9D15-170A8CF9DA11}"/>
                </a:ext>
              </a:extLst>
            </p:cNvPr>
            <p:cNvSpPr txBox="1"/>
            <p:nvPr/>
          </p:nvSpPr>
          <p:spPr>
            <a:xfrm>
              <a:off x="669760" y="1428431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図形のアニメーション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A5E21FB-26F7-0E0C-8E06-181A2CBFBB91}"/>
              </a:ext>
            </a:extLst>
          </p:cNvPr>
          <p:cNvGrpSpPr/>
          <p:nvPr/>
        </p:nvGrpSpPr>
        <p:grpSpPr>
          <a:xfrm>
            <a:off x="395536" y="1894808"/>
            <a:ext cx="753160" cy="369332"/>
            <a:chOff x="562931" y="2010458"/>
            <a:chExt cx="753160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08DEE4E6-3940-88EF-89BF-12174FE1C878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753160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7CE3338-CB36-8B19-3E55-B906A69E2CCD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A0F9A119-133F-17F0-EF6F-CAF6FA1BE396}"/>
                </a:ext>
              </a:extLst>
            </p:cNvPr>
            <p:cNvSpPr txBox="1"/>
            <p:nvPr/>
          </p:nvSpPr>
          <p:spPr>
            <a:xfrm>
              <a:off x="669760" y="201045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線形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62A34606-EB0C-845A-8419-A29D710A6BC5}"/>
              </a:ext>
            </a:extLst>
          </p:cNvPr>
          <p:cNvGrpSpPr/>
          <p:nvPr/>
        </p:nvGrpSpPr>
        <p:grpSpPr>
          <a:xfrm>
            <a:off x="395536" y="4363504"/>
            <a:ext cx="753160" cy="369332"/>
            <a:chOff x="562931" y="2010458"/>
            <a:chExt cx="753160" cy="369332"/>
          </a:xfrm>
        </p:grpSpPr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6819914C-269E-CFC8-AB9A-89F287CA423B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753160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FEDC8A6A-7D7E-D923-2FC0-C6FB863673D8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410F88B0-C0FC-5FB4-ADBD-376D40CC6548}"/>
                </a:ext>
              </a:extLst>
            </p:cNvPr>
            <p:cNvSpPr txBox="1"/>
            <p:nvPr/>
          </p:nvSpPr>
          <p:spPr>
            <a:xfrm>
              <a:off x="669760" y="201045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円形</a:t>
              </a:r>
            </a:p>
          </p:txBody>
        </p:sp>
      </p:grp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F679573-6C0C-E467-81CA-3ABBCA3A3F2E}"/>
              </a:ext>
            </a:extLst>
          </p:cNvPr>
          <p:cNvSpPr/>
          <p:nvPr/>
        </p:nvSpPr>
        <p:spPr>
          <a:xfrm>
            <a:off x="442703" y="5036499"/>
            <a:ext cx="3576006" cy="1464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kumimoji="1" lang="ja-JP" altLang="en-US" dirty="0"/>
              <a:t>図形アニメーションのコード</a:t>
            </a:r>
            <a:endParaRPr kumimoji="1" lang="en-US" altLang="ja-JP" dirty="0"/>
          </a:p>
          <a:p>
            <a:r>
              <a:rPr lang="ja-JP" altLang="en-US" dirty="0"/>
              <a:t>円</a:t>
            </a:r>
            <a:endParaRPr kumimoji="1" lang="en-US" altLang="ja-JP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E3865C8-25C4-16C3-2434-C0D12FE1C401}"/>
              </a:ext>
            </a:extLst>
          </p:cNvPr>
          <p:cNvSpPr/>
          <p:nvPr/>
        </p:nvSpPr>
        <p:spPr>
          <a:xfrm>
            <a:off x="5125291" y="2577258"/>
            <a:ext cx="3576006" cy="146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表示される画像</a:t>
            </a:r>
            <a:endParaRPr kumimoji="1" lang="en-US" altLang="ja-JP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DE5A7A1-B49A-84E4-7D06-08AE5DC008B0}"/>
              </a:ext>
            </a:extLst>
          </p:cNvPr>
          <p:cNvSpPr/>
          <p:nvPr/>
        </p:nvSpPr>
        <p:spPr>
          <a:xfrm>
            <a:off x="5125291" y="5035312"/>
            <a:ext cx="3576006" cy="146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表示される画像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2545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12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図形・テキスト・画像のアニメーション制御</a:t>
            </a:r>
            <a:endParaRPr kumimoji="1" lang="ja-JP" altLang="en-US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8074C97-D031-449A-9360-A2FFC53D00AE}"/>
              </a:ext>
            </a:extLst>
          </p:cNvPr>
          <p:cNvGrpSpPr/>
          <p:nvPr/>
        </p:nvGrpSpPr>
        <p:grpSpPr>
          <a:xfrm>
            <a:off x="395536" y="1246107"/>
            <a:ext cx="8272189" cy="2542933"/>
            <a:chOff x="395536" y="1246107"/>
            <a:chExt cx="8272189" cy="2542933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5E71E24-E275-4AB4-94F7-4835B72DA1AB}"/>
                </a:ext>
              </a:extLst>
            </p:cNvPr>
            <p:cNvSpPr/>
            <p:nvPr/>
          </p:nvSpPr>
          <p:spPr>
            <a:xfrm>
              <a:off x="447275" y="1917616"/>
              <a:ext cx="3576006" cy="18714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dirty="0"/>
                <a:t>コード貼る</a:t>
              </a:r>
              <a:endParaRPr kumimoji="1" lang="en-US" altLang="ja-JP" dirty="0"/>
            </a:p>
            <a:p>
              <a:r>
                <a:rPr lang="ja-JP" altLang="en-US" dirty="0"/>
                <a:t>テキスト</a:t>
              </a:r>
              <a:r>
                <a:rPr kumimoji="1" lang="ja-JP" altLang="en-US" dirty="0"/>
                <a:t>アニメーションのコード</a:t>
              </a:r>
              <a:endParaRPr kumimoji="1" lang="en-US" altLang="ja-JP" dirty="0"/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1261CC49-ACFC-425C-B7EF-BE2B07BBE518}"/>
                </a:ext>
              </a:extLst>
            </p:cNvPr>
            <p:cNvGrpSpPr/>
            <p:nvPr/>
          </p:nvGrpSpPr>
          <p:grpSpPr>
            <a:xfrm>
              <a:off x="395536" y="1246107"/>
              <a:ext cx="3061484" cy="369332"/>
              <a:chOff x="562931" y="1428431"/>
              <a:chExt cx="3061484" cy="369332"/>
            </a:xfrm>
          </p:grpSpPr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6F656F7F-0C6F-4390-BEB2-1240E1FC5CE1}"/>
                  </a:ext>
                </a:extLst>
              </p:cNvPr>
              <p:cNvSpPr/>
              <p:nvPr/>
            </p:nvSpPr>
            <p:spPr>
              <a:xfrm>
                <a:off x="562931" y="1451239"/>
                <a:ext cx="94335" cy="323717"/>
              </a:xfrm>
              <a:prstGeom prst="rect">
                <a:avLst/>
              </a:prstGeom>
              <a:solidFill>
                <a:srgbClr val="337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35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B75DE23D-9A57-42EA-9D15-170A8CF9DA11}"/>
                  </a:ext>
                </a:extLst>
              </p:cNvPr>
              <p:cNvSpPr txBox="1"/>
              <p:nvPr/>
            </p:nvSpPr>
            <p:spPr>
              <a:xfrm>
                <a:off x="669760" y="1428431"/>
                <a:ext cx="2954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テキストのアニメーション</a:t>
                </a:r>
              </a:p>
            </p:txBody>
          </p:sp>
        </p:grp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9B1D8FB-BB65-4298-A00A-83121C9DAAA1}"/>
                </a:ext>
              </a:extLst>
            </p:cNvPr>
            <p:cNvSpPr/>
            <p:nvPr/>
          </p:nvSpPr>
          <p:spPr>
            <a:xfrm>
              <a:off x="5091719" y="1917616"/>
              <a:ext cx="3576006" cy="18714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dirty="0"/>
                <a:t>表示される画像</a:t>
              </a:r>
              <a:endParaRPr kumimoji="1" lang="en-US" altLang="ja-JP" dirty="0"/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EC7531A-8EE2-4A3C-8094-C40BEF91D1BB}"/>
              </a:ext>
            </a:extLst>
          </p:cNvPr>
          <p:cNvGrpSpPr/>
          <p:nvPr/>
        </p:nvGrpSpPr>
        <p:grpSpPr>
          <a:xfrm>
            <a:off x="395536" y="4114024"/>
            <a:ext cx="8272189" cy="2542933"/>
            <a:chOff x="395536" y="1246107"/>
            <a:chExt cx="8272189" cy="2542933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0AC12B73-476E-4CF3-A138-86668148242E}"/>
                </a:ext>
              </a:extLst>
            </p:cNvPr>
            <p:cNvSpPr/>
            <p:nvPr/>
          </p:nvSpPr>
          <p:spPr>
            <a:xfrm>
              <a:off x="447275" y="1917616"/>
              <a:ext cx="3576006" cy="18714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dirty="0"/>
                <a:t>コード貼る</a:t>
              </a:r>
              <a:endParaRPr kumimoji="1" lang="en-US" altLang="ja-JP" dirty="0"/>
            </a:p>
            <a:p>
              <a:r>
                <a:rPr kumimoji="1" lang="ja-JP" altLang="en-US" dirty="0"/>
                <a:t>画像アニメーションのコード</a:t>
              </a:r>
              <a:endParaRPr kumimoji="1" lang="en-US" altLang="ja-JP" dirty="0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2D2B42F-14A3-438D-B757-C708D69618FF}"/>
                </a:ext>
              </a:extLst>
            </p:cNvPr>
            <p:cNvGrpSpPr/>
            <p:nvPr/>
          </p:nvGrpSpPr>
          <p:grpSpPr>
            <a:xfrm>
              <a:off x="395536" y="1246107"/>
              <a:ext cx="2599819" cy="369332"/>
              <a:chOff x="562931" y="1428431"/>
              <a:chExt cx="2599819" cy="369332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930F0185-AD46-4D6D-8D12-5D94C5B25AD8}"/>
                  </a:ext>
                </a:extLst>
              </p:cNvPr>
              <p:cNvSpPr/>
              <p:nvPr/>
            </p:nvSpPr>
            <p:spPr>
              <a:xfrm>
                <a:off x="562931" y="1451239"/>
                <a:ext cx="94335" cy="323717"/>
              </a:xfrm>
              <a:prstGeom prst="rect">
                <a:avLst/>
              </a:prstGeom>
              <a:solidFill>
                <a:srgbClr val="337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350"/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8955FAF5-7849-4B22-A818-8F4CAA19E509}"/>
                  </a:ext>
                </a:extLst>
              </p:cNvPr>
              <p:cNvSpPr txBox="1"/>
              <p:nvPr/>
            </p:nvSpPr>
            <p:spPr>
              <a:xfrm>
                <a:off x="669760" y="1428431"/>
                <a:ext cx="24929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画像のアニメーション</a:t>
                </a:r>
              </a:p>
            </p:txBody>
          </p:sp>
        </p:grp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48595F19-8AEF-46EE-A706-9FE9B77A75A7}"/>
                </a:ext>
              </a:extLst>
            </p:cNvPr>
            <p:cNvSpPr/>
            <p:nvPr/>
          </p:nvSpPr>
          <p:spPr>
            <a:xfrm>
              <a:off x="5091719" y="1917616"/>
              <a:ext cx="3576006" cy="18714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dirty="0"/>
                <a:t>表示される画像</a:t>
              </a:r>
              <a:endParaRPr kumimoji="1" lang="en-US" altLang="ja-JP" dirty="0"/>
            </a:p>
          </p:txBody>
        </p:sp>
      </p:grpSp>
    </p:spTree>
    <p:extLst>
      <p:ext uri="{BB962C8B-B14F-4D97-AF65-F5344CB8AC3E}">
        <p14:creationId xmlns:p14="http://schemas.microsoft.com/office/powerpoint/2010/main" val="3015211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1799B8F-F618-6F06-582F-5819BCD61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13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3B41F72-062B-7231-E86D-D81AA6C0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ソースコードのメリット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94DD592-CFFA-A1B3-54A3-C8CA16D92130}"/>
              </a:ext>
            </a:extLst>
          </p:cNvPr>
          <p:cNvGrpSpPr/>
          <p:nvPr/>
        </p:nvGrpSpPr>
        <p:grpSpPr>
          <a:xfrm>
            <a:off x="395536" y="1246107"/>
            <a:ext cx="2662337" cy="369332"/>
            <a:chOff x="562931" y="1428431"/>
            <a:chExt cx="2662337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365F55C-77FB-69D0-C14D-909B314FF898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D3982BD-ED3B-2416-1932-9C0F86FD6F42}"/>
                </a:ext>
              </a:extLst>
            </p:cNvPr>
            <p:cNvSpPr txBox="1"/>
            <p:nvPr/>
          </p:nvSpPr>
          <p:spPr>
            <a:xfrm>
              <a:off x="669760" y="1428431"/>
              <a:ext cx="25555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繰り返し構文（</a:t>
              </a: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for</a:t>
              </a:r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文）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D51B376-A776-76DE-499F-1A28ED521AAB}"/>
              </a:ext>
            </a:extLst>
          </p:cNvPr>
          <p:cNvSpPr/>
          <p:nvPr/>
        </p:nvSpPr>
        <p:spPr>
          <a:xfrm>
            <a:off x="502365" y="1917966"/>
            <a:ext cx="820685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dirty="0"/>
              <a:t>For</a:t>
            </a:r>
            <a:r>
              <a:rPr lang="ja-JP" altLang="en-US" dirty="0"/>
              <a:t>文を使って作成した同じようなアニメーションか画像を表示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28675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14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19A7F18E-6C34-4E50-A45D-A057F9E3AF0E}"/>
              </a:ext>
            </a:extLst>
          </p:cNvPr>
          <p:cNvGrpSpPr/>
          <p:nvPr/>
        </p:nvGrpSpPr>
        <p:grpSpPr>
          <a:xfrm>
            <a:off x="395536" y="1246107"/>
            <a:ext cx="753160" cy="369332"/>
            <a:chOff x="562931" y="1428431"/>
            <a:chExt cx="753160" cy="36933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7DA292C-BE56-4367-8DA9-9A618B258171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04375DB9-AE54-4808-8F14-7FDAA0F81535}"/>
                </a:ext>
              </a:extLst>
            </p:cNvPr>
            <p:cNvSpPr txBox="1"/>
            <p:nvPr/>
          </p:nvSpPr>
          <p:spPr>
            <a:xfrm>
              <a:off x="669760" y="142843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目的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FF295F3A-58D1-489E-923C-F5352B1E2C23}"/>
              </a:ext>
            </a:extLst>
          </p:cNvPr>
          <p:cNvGrpSpPr/>
          <p:nvPr/>
        </p:nvGrpSpPr>
        <p:grpSpPr>
          <a:xfrm>
            <a:off x="395536" y="3506844"/>
            <a:ext cx="1214825" cy="369332"/>
            <a:chOff x="562931" y="1428431"/>
            <a:chExt cx="1214825" cy="369332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9EF5E62-AF64-4804-9D1A-DDEE66409486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8A87F34-AA51-482A-8696-0202F252A079}"/>
                </a:ext>
              </a:extLst>
            </p:cNvPr>
            <p:cNvSpPr txBox="1"/>
            <p:nvPr/>
          </p:nvSpPr>
          <p:spPr>
            <a:xfrm>
              <a:off x="669760" y="142843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研究内容</a:t>
              </a:r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50C636BA-EB5E-4676-8113-EDDEE0C38DD4}"/>
              </a:ext>
            </a:extLst>
          </p:cNvPr>
          <p:cNvGrpSpPr/>
          <p:nvPr/>
        </p:nvGrpSpPr>
        <p:grpSpPr>
          <a:xfrm>
            <a:off x="395536" y="4872038"/>
            <a:ext cx="753160" cy="369332"/>
            <a:chOff x="562931" y="1428431"/>
            <a:chExt cx="753160" cy="369332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0F42CC9-5DB5-4442-896D-614AF360C22D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D71BB14B-F3D1-4479-B934-4163E08676CC}"/>
                </a:ext>
              </a:extLst>
            </p:cNvPr>
            <p:cNvSpPr txBox="1"/>
            <p:nvPr/>
          </p:nvSpPr>
          <p:spPr>
            <a:xfrm>
              <a:off x="669760" y="142843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結果</a:t>
              </a:r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8B203E-22A6-423B-BD3E-04FDFB1FCF61}"/>
              </a:ext>
            </a:extLst>
          </p:cNvPr>
          <p:cNvSpPr txBox="1"/>
          <p:nvPr/>
        </p:nvSpPr>
        <p:spPr>
          <a:xfrm>
            <a:off x="489871" y="1917616"/>
            <a:ext cx="4859022" cy="1290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授業</a:t>
            </a:r>
            <a:r>
              <a:rPr lang="ja-JP" altLang="en-US" dirty="0"/>
              <a:t>スライド</a:t>
            </a:r>
            <a:r>
              <a:rPr kumimoji="1" lang="ja-JP" altLang="en-US" dirty="0"/>
              <a:t>作成における作業負担の軽減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→図形位置、大きさを数値で制御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kumimoji="1" lang="ja-JP" altLang="en-US" dirty="0"/>
              <a:t>→波形などのアニメーションを簡単描画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E1D55EF-9EEE-44C5-95AF-42A17C0AD1E5}"/>
              </a:ext>
            </a:extLst>
          </p:cNvPr>
          <p:cNvSpPr txBox="1"/>
          <p:nvPr/>
        </p:nvSpPr>
        <p:spPr>
          <a:xfrm>
            <a:off x="442703" y="4175371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アニメーションに必要な機能を実装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330311-2856-AA0F-AF52-27B6D8EFB9D7}"/>
              </a:ext>
            </a:extLst>
          </p:cNvPr>
          <p:cNvSpPr txBox="1"/>
          <p:nvPr/>
        </p:nvSpPr>
        <p:spPr>
          <a:xfrm>
            <a:off x="491589" y="5498916"/>
            <a:ext cx="5782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複雑なアニメーションを簡単に作成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繰り返し構文で画像やアニメーションが繰り返せる</a:t>
            </a:r>
          </a:p>
        </p:txBody>
      </p:sp>
    </p:spTree>
    <p:extLst>
      <p:ext uri="{BB962C8B-B14F-4D97-AF65-F5344CB8AC3E}">
        <p14:creationId xmlns:p14="http://schemas.microsoft.com/office/powerpoint/2010/main" val="354873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15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研究目的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6775146-4AF3-4AB4-BF48-603F9BA16B06}"/>
              </a:ext>
            </a:extLst>
          </p:cNvPr>
          <p:cNvGrpSpPr/>
          <p:nvPr/>
        </p:nvGrpSpPr>
        <p:grpSpPr>
          <a:xfrm>
            <a:off x="395536" y="1246107"/>
            <a:ext cx="4677311" cy="369332"/>
            <a:chOff x="562931" y="1428431"/>
            <a:chExt cx="4677311" cy="36933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6F2C151-43EF-422C-806B-D280D186140B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5CCBC1C-3F80-4404-BDF6-C79706DDE1FC}"/>
                </a:ext>
              </a:extLst>
            </p:cNvPr>
            <p:cNvSpPr txBox="1"/>
            <p:nvPr/>
          </p:nvSpPr>
          <p:spPr>
            <a:xfrm>
              <a:off x="669760" y="1428431"/>
              <a:ext cx="45704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授業スライド作成における作業負担の軽減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8914F37-8778-4DF8-B46F-B5092249F989}"/>
              </a:ext>
            </a:extLst>
          </p:cNvPr>
          <p:cNvGrpSpPr/>
          <p:nvPr/>
        </p:nvGrpSpPr>
        <p:grpSpPr>
          <a:xfrm>
            <a:off x="395536" y="1883745"/>
            <a:ext cx="3523149" cy="369332"/>
            <a:chOff x="562931" y="2010458"/>
            <a:chExt cx="3523149" cy="369332"/>
          </a:xfrm>
        </p:grpSpPr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E6679751-CAD3-4A87-80F0-0E3E35DE472C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3523149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E767357-4987-4D61-8E98-717DC7BC5CF6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1F39D0D-33AF-4DFB-B396-541EB77E0659}"/>
                </a:ext>
              </a:extLst>
            </p:cNvPr>
            <p:cNvSpPr txBox="1"/>
            <p:nvPr/>
          </p:nvSpPr>
          <p:spPr>
            <a:xfrm>
              <a:off x="669760" y="2010458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図形位置、大きさを数値で制御</a:t>
              </a:r>
            </a:p>
          </p:txBody>
        </p:sp>
      </p:grp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A73039-7739-4F88-9103-54654C56583E}"/>
              </a:ext>
            </a:extLst>
          </p:cNvPr>
          <p:cNvSpPr/>
          <p:nvPr/>
        </p:nvSpPr>
        <p:spPr>
          <a:xfrm>
            <a:off x="395536" y="2498576"/>
            <a:ext cx="3816424" cy="402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dirty="0"/>
              <a:t>h</a:t>
            </a:r>
            <a:r>
              <a:rPr kumimoji="1" lang="en-US" altLang="ja-JP" dirty="0"/>
              <a:t>tml</a:t>
            </a:r>
            <a:r>
              <a:rPr kumimoji="1" lang="ja-JP" altLang="en-US" dirty="0"/>
              <a:t>の画像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82BF372-C515-4884-858D-CDC2341E818B}"/>
              </a:ext>
            </a:extLst>
          </p:cNvPr>
          <p:cNvSpPr/>
          <p:nvPr/>
        </p:nvSpPr>
        <p:spPr>
          <a:xfrm>
            <a:off x="4932042" y="2498575"/>
            <a:ext cx="3816424" cy="402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の画像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E3EBD214-C020-47F8-A9BC-D946F728AF41}"/>
              </a:ext>
            </a:extLst>
          </p:cNvPr>
          <p:cNvGrpSpPr/>
          <p:nvPr/>
        </p:nvGrpSpPr>
        <p:grpSpPr>
          <a:xfrm>
            <a:off x="4732431" y="1852287"/>
            <a:ext cx="4215646" cy="369332"/>
            <a:chOff x="562931" y="2010458"/>
            <a:chExt cx="4215646" cy="369332"/>
          </a:xfrm>
        </p:grpSpPr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FB7480C0-ED6D-425A-AB8F-1CE8C3962416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4215646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50959C58-5EC3-4560-8861-DEE3FF6072FA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EEA37A1-5247-4479-A4F9-6C68102A3364}"/>
                </a:ext>
              </a:extLst>
            </p:cNvPr>
            <p:cNvSpPr txBox="1"/>
            <p:nvPr/>
          </p:nvSpPr>
          <p:spPr>
            <a:xfrm>
              <a:off x="669760" y="2010458"/>
              <a:ext cx="41088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波形などのアニメーションを簡単描画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2406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37F9DBA-72E1-4229-BC2E-CEB3025BCA02}"/>
              </a:ext>
            </a:extLst>
          </p:cNvPr>
          <p:cNvSpPr txBox="1"/>
          <p:nvPr/>
        </p:nvSpPr>
        <p:spPr>
          <a:xfrm>
            <a:off x="0" y="37103"/>
            <a:ext cx="11592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1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D32027D-12CD-4732-A16B-4ACC50016776}"/>
              </a:ext>
            </a:extLst>
          </p:cNvPr>
          <p:cNvSpPr txBox="1"/>
          <p:nvPr/>
        </p:nvSpPr>
        <p:spPr>
          <a:xfrm>
            <a:off x="1188392" y="37105"/>
            <a:ext cx="11622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2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B79E544-F8DB-42A0-AD81-56CD083453A7}"/>
              </a:ext>
            </a:extLst>
          </p:cNvPr>
          <p:cNvSpPr txBox="1"/>
          <p:nvPr/>
        </p:nvSpPr>
        <p:spPr>
          <a:xfrm>
            <a:off x="2379052" y="37105"/>
            <a:ext cx="11607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3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F88AAD4-A343-4746-A5CC-8DCBFB301D35}"/>
              </a:ext>
            </a:extLst>
          </p:cNvPr>
          <p:cNvSpPr txBox="1"/>
          <p:nvPr/>
        </p:nvSpPr>
        <p:spPr>
          <a:xfrm>
            <a:off x="3568986" y="37105"/>
            <a:ext cx="1156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4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67705E5-283C-44DB-8C1F-DA60482CAD29}"/>
              </a:ext>
            </a:extLst>
          </p:cNvPr>
          <p:cNvSpPr txBox="1"/>
          <p:nvPr/>
        </p:nvSpPr>
        <p:spPr>
          <a:xfrm>
            <a:off x="4754681" y="37105"/>
            <a:ext cx="1156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5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9A707D0-6C3E-488F-A10B-02A986118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16</a:t>
            </a:fld>
            <a:endParaRPr lang="ja-JP" altLang="en-US" dirty="0">
              <a:latin typeface="原ノ味角ゴシック Medium" panose="020B0600000000000000" pitchFamily="34" charset="-128"/>
              <a:ea typeface="原ノ味角ゴシック Medium" panose="020B0600000000000000" pitchFamily="34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5927F4B-18A7-4004-AF47-7C2804C0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Contents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5589F0-1955-41C5-8003-E965A6F98C5E}"/>
              </a:ext>
            </a:extLst>
          </p:cNvPr>
          <p:cNvSpPr/>
          <p:nvPr/>
        </p:nvSpPr>
        <p:spPr>
          <a:xfrm>
            <a:off x="562931" y="1451239"/>
            <a:ext cx="94335" cy="323717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301896-7E77-4A9C-9F8D-D4F929722D9E}"/>
              </a:ext>
            </a:extLst>
          </p:cNvPr>
          <p:cNvSpPr txBox="1"/>
          <p:nvPr/>
        </p:nvSpPr>
        <p:spPr>
          <a:xfrm>
            <a:off x="669760" y="14284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見出し１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66C6A6-F815-4E9A-BC93-1379368DA63E}"/>
              </a:ext>
            </a:extLst>
          </p:cNvPr>
          <p:cNvSpPr/>
          <p:nvPr/>
        </p:nvSpPr>
        <p:spPr>
          <a:xfrm>
            <a:off x="433503" y="2864969"/>
            <a:ext cx="1782198" cy="475562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レイアウト</a:t>
            </a:r>
            <a:r>
              <a:rPr lang="en-US" altLang="ja-JP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A</a:t>
            </a:r>
            <a:endParaRPr lang="ja-JP" altLang="en-US" dirty="0">
              <a:latin typeface="原ノ味角ゴシック Medium" panose="020B0600000000000000" pitchFamily="34" charset="-128"/>
              <a:ea typeface="原ノ味角ゴシック Medium" panose="020B0600000000000000" pitchFamily="34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EB4DF08-BC6D-44D2-AE2F-2A7B180F8BD0}"/>
              </a:ext>
            </a:extLst>
          </p:cNvPr>
          <p:cNvCxnSpPr>
            <a:cxnSpLocks/>
          </p:cNvCxnSpPr>
          <p:nvPr/>
        </p:nvCxnSpPr>
        <p:spPr>
          <a:xfrm>
            <a:off x="1" y="32547"/>
            <a:ext cx="5914731" cy="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A2ADF70-F26C-4BBD-A5DE-5551A58F680F}"/>
              </a:ext>
            </a:extLst>
          </p:cNvPr>
          <p:cNvCxnSpPr>
            <a:cxnSpLocks/>
          </p:cNvCxnSpPr>
          <p:nvPr/>
        </p:nvCxnSpPr>
        <p:spPr>
          <a:xfrm>
            <a:off x="0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31685E4-6DF0-4D5D-B40F-B08B13B34789}"/>
              </a:ext>
            </a:extLst>
          </p:cNvPr>
          <p:cNvCxnSpPr>
            <a:cxnSpLocks/>
          </p:cNvCxnSpPr>
          <p:nvPr/>
        </p:nvCxnSpPr>
        <p:spPr>
          <a:xfrm>
            <a:off x="1189725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74C6963-22B2-4088-9CB3-652ED070E77D}"/>
              </a:ext>
            </a:extLst>
          </p:cNvPr>
          <p:cNvCxnSpPr>
            <a:cxnSpLocks/>
          </p:cNvCxnSpPr>
          <p:nvPr/>
        </p:nvCxnSpPr>
        <p:spPr>
          <a:xfrm>
            <a:off x="2377719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70AF5F5-5C66-4DB0-B938-608000C8CB2D}"/>
              </a:ext>
            </a:extLst>
          </p:cNvPr>
          <p:cNvCxnSpPr>
            <a:cxnSpLocks/>
          </p:cNvCxnSpPr>
          <p:nvPr/>
        </p:nvCxnSpPr>
        <p:spPr>
          <a:xfrm>
            <a:off x="3565851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9AB12B4-9923-4766-84B1-40740402FCB2}"/>
              </a:ext>
            </a:extLst>
          </p:cNvPr>
          <p:cNvCxnSpPr>
            <a:cxnSpLocks/>
          </p:cNvCxnSpPr>
          <p:nvPr/>
        </p:nvCxnSpPr>
        <p:spPr>
          <a:xfrm>
            <a:off x="4753983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1DFC644-9A03-48FA-9257-AB469BEA0311}"/>
              </a:ext>
            </a:extLst>
          </p:cNvPr>
          <p:cNvSpPr/>
          <p:nvPr/>
        </p:nvSpPr>
        <p:spPr>
          <a:xfrm>
            <a:off x="2377719" y="2864969"/>
            <a:ext cx="1782198" cy="475562"/>
          </a:xfrm>
          <a:prstGeom prst="rect">
            <a:avLst/>
          </a:prstGeom>
          <a:solidFill>
            <a:srgbClr val="FF57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レイアウト</a:t>
            </a:r>
            <a:r>
              <a:rPr lang="en-US" altLang="ja-JP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A</a:t>
            </a:r>
            <a:endParaRPr lang="ja-JP" altLang="en-US" dirty="0">
              <a:latin typeface="原ノ味角ゴシック Medium" panose="020B0600000000000000" pitchFamily="34" charset="-128"/>
              <a:ea typeface="原ノ味角ゴシック Medium" panose="020B0600000000000000" pitchFamily="34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1275B24-203E-4314-9E60-B3A850894164}"/>
              </a:ext>
            </a:extLst>
          </p:cNvPr>
          <p:cNvSpPr txBox="1"/>
          <p:nvPr/>
        </p:nvSpPr>
        <p:spPr>
          <a:xfrm>
            <a:off x="827584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テキスト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9E3292C-271B-4587-9279-A9A35BC7F223}"/>
              </a:ext>
            </a:extLst>
          </p:cNvPr>
          <p:cNvSpPr txBox="1"/>
          <p:nvPr/>
        </p:nvSpPr>
        <p:spPr>
          <a:xfrm>
            <a:off x="827584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テキスト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837043F-7B11-4747-BE40-DDBE85541A72}"/>
              </a:ext>
            </a:extLst>
          </p:cNvPr>
          <p:cNvSpPr txBox="1"/>
          <p:nvPr/>
        </p:nvSpPr>
        <p:spPr>
          <a:xfrm>
            <a:off x="827584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テキスト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1E85FC0-1435-4E7B-87D7-A846050CEE44}"/>
              </a:ext>
            </a:extLst>
          </p:cNvPr>
          <p:cNvSpPr txBox="1"/>
          <p:nvPr/>
        </p:nvSpPr>
        <p:spPr>
          <a:xfrm>
            <a:off x="1979712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n-ea"/>
              </a:rPr>
              <a:t>テキスト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D542BD2-8330-448D-A937-0D684B0651E2}"/>
              </a:ext>
            </a:extLst>
          </p:cNvPr>
          <p:cNvSpPr txBox="1"/>
          <p:nvPr/>
        </p:nvSpPr>
        <p:spPr>
          <a:xfrm>
            <a:off x="1979712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n-ea"/>
              </a:rPr>
              <a:t>テキスト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1422D83-1E4C-4409-809C-7CF50050BD67}"/>
              </a:ext>
            </a:extLst>
          </p:cNvPr>
          <p:cNvSpPr txBox="1"/>
          <p:nvPr/>
        </p:nvSpPr>
        <p:spPr>
          <a:xfrm>
            <a:off x="1979712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n-ea"/>
              </a:rPr>
              <a:t>テキスト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35BADD4-0058-4556-8E5A-C1FC365671C0}"/>
              </a:ext>
            </a:extLst>
          </p:cNvPr>
          <p:cNvSpPr txBox="1"/>
          <p:nvPr/>
        </p:nvSpPr>
        <p:spPr>
          <a:xfrm>
            <a:off x="3131840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n-ea"/>
              </a:rPr>
              <a:t>テキスト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29DB15B-1C6A-41C7-B087-FAB46EF0AEC7}"/>
              </a:ext>
            </a:extLst>
          </p:cNvPr>
          <p:cNvSpPr txBox="1"/>
          <p:nvPr/>
        </p:nvSpPr>
        <p:spPr>
          <a:xfrm>
            <a:off x="3131840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n-ea"/>
              </a:rPr>
              <a:t>テキスト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48F9266-BE1F-4633-B942-4AD56DB412C8}"/>
              </a:ext>
            </a:extLst>
          </p:cNvPr>
          <p:cNvSpPr txBox="1"/>
          <p:nvPr/>
        </p:nvSpPr>
        <p:spPr>
          <a:xfrm>
            <a:off x="3131840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n-ea"/>
              </a:rPr>
              <a:t>テキスト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5D50449-A5D8-4E43-B0E9-65F4432794E4}"/>
              </a:ext>
            </a:extLst>
          </p:cNvPr>
          <p:cNvSpPr txBox="1"/>
          <p:nvPr/>
        </p:nvSpPr>
        <p:spPr>
          <a:xfrm>
            <a:off x="4822065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79FB7A24-5D0F-48DE-B8A1-C0B8977CDCDF}"/>
              </a:ext>
            </a:extLst>
          </p:cNvPr>
          <p:cNvSpPr txBox="1"/>
          <p:nvPr/>
        </p:nvSpPr>
        <p:spPr>
          <a:xfrm>
            <a:off x="4822065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14F4347C-4DC4-445D-8924-2F592733679C}"/>
              </a:ext>
            </a:extLst>
          </p:cNvPr>
          <p:cNvSpPr txBox="1"/>
          <p:nvPr/>
        </p:nvSpPr>
        <p:spPr>
          <a:xfrm>
            <a:off x="4822065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41561F9-15DA-4630-BE5B-BAB460151362}"/>
              </a:ext>
            </a:extLst>
          </p:cNvPr>
          <p:cNvSpPr txBox="1"/>
          <p:nvPr/>
        </p:nvSpPr>
        <p:spPr>
          <a:xfrm>
            <a:off x="5974193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686F7E6D-29F9-4A3E-B729-0C47BDB81348}"/>
              </a:ext>
            </a:extLst>
          </p:cNvPr>
          <p:cNvSpPr txBox="1"/>
          <p:nvPr/>
        </p:nvSpPr>
        <p:spPr>
          <a:xfrm>
            <a:off x="5974193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B3DE36D-6757-4C5D-BB9B-B0BE576F4899}"/>
              </a:ext>
            </a:extLst>
          </p:cNvPr>
          <p:cNvSpPr txBox="1"/>
          <p:nvPr/>
        </p:nvSpPr>
        <p:spPr>
          <a:xfrm>
            <a:off x="5974193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97B362C-E995-45C6-ADD5-0147F3FC217B}"/>
              </a:ext>
            </a:extLst>
          </p:cNvPr>
          <p:cNvSpPr txBox="1"/>
          <p:nvPr/>
        </p:nvSpPr>
        <p:spPr>
          <a:xfrm>
            <a:off x="7126321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D7EE18F-6C01-49B3-B38F-9026C809960B}"/>
              </a:ext>
            </a:extLst>
          </p:cNvPr>
          <p:cNvSpPr txBox="1"/>
          <p:nvPr/>
        </p:nvSpPr>
        <p:spPr>
          <a:xfrm>
            <a:off x="7126321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EDD22A4C-9774-48DE-839D-337B4E7D8D26}"/>
              </a:ext>
            </a:extLst>
          </p:cNvPr>
          <p:cNvSpPr txBox="1"/>
          <p:nvPr/>
        </p:nvSpPr>
        <p:spPr>
          <a:xfrm>
            <a:off x="7126321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j-ea"/>
                <a:ea typeface="+mj-ea"/>
              </a:rPr>
              <a:t>テキスト</a:t>
            </a:r>
          </a:p>
        </p:txBody>
      </p: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358FBC4F-4AE9-49F9-B357-DC07054D25E0}"/>
              </a:ext>
            </a:extLst>
          </p:cNvPr>
          <p:cNvCxnSpPr>
            <a:cxnSpLocks/>
          </p:cNvCxnSpPr>
          <p:nvPr/>
        </p:nvCxnSpPr>
        <p:spPr>
          <a:xfrm>
            <a:off x="562931" y="2359736"/>
            <a:ext cx="6127337" cy="0"/>
          </a:xfrm>
          <a:prstGeom prst="line">
            <a:avLst/>
          </a:prstGeom>
          <a:ln w="127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591A6510-B13B-4EF5-AEF8-0D8B1B62F046}"/>
              </a:ext>
            </a:extLst>
          </p:cNvPr>
          <p:cNvSpPr/>
          <p:nvPr/>
        </p:nvSpPr>
        <p:spPr>
          <a:xfrm>
            <a:off x="562931" y="2036019"/>
            <a:ext cx="94335" cy="323717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584C73B-BFE7-4D75-B96E-B6220E150B7E}"/>
              </a:ext>
            </a:extLst>
          </p:cNvPr>
          <p:cNvSpPr txBox="1"/>
          <p:nvPr/>
        </p:nvSpPr>
        <p:spPr>
          <a:xfrm>
            <a:off x="669760" y="20104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見出し２</a:t>
            </a:r>
          </a:p>
        </p:txBody>
      </p:sp>
    </p:spTree>
    <p:extLst>
      <p:ext uri="{BB962C8B-B14F-4D97-AF65-F5344CB8AC3E}">
        <p14:creationId xmlns:p14="http://schemas.microsoft.com/office/powerpoint/2010/main" val="3967945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6741900-4627-4AE5-9AFC-F74AE7BE5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17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F2FD754-EB53-414D-BF80-04B9B51D0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4BD7D7C-C5E9-481C-B9D2-5F6075E227D2}"/>
              </a:ext>
            </a:extLst>
          </p:cNvPr>
          <p:cNvGrpSpPr/>
          <p:nvPr/>
        </p:nvGrpSpPr>
        <p:grpSpPr>
          <a:xfrm>
            <a:off x="1778259" y="1973982"/>
            <a:ext cx="5170005" cy="3759274"/>
            <a:chOff x="1778259" y="1973982"/>
            <a:chExt cx="5170005" cy="3759274"/>
          </a:xfrm>
        </p:grpSpPr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78D639A4-74BF-4897-A785-483D332EF5A0}"/>
                </a:ext>
              </a:extLst>
            </p:cNvPr>
            <p:cNvGrpSpPr/>
            <p:nvPr/>
          </p:nvGrpSpPr>
          <p:grpSpPr>
            <a:xfrm>
              <a:off x="1778259" y="1973982"/>
              <a:ext cx="5170005" cy="3759274"/>
              <a:chOff x="1778259" y="1973982"/>
              <a:chExt cx="5170005" cy="3759274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CCC925A1-743E-49E2-80A3-2C441F419DEB}"/>
                  </a:ext>
                </a:extLst>
              </p:cNvPr>
              <p:cNvSpPr txBox="1"/>
              <p:nvPr/>
            </p:nvSpPr>
            <p:spPr>
              <a:xfrm>
                <a:off x="1827498" y="1973982"/>
                <a:ext cx="4783682" cy="3431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let n = 100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 err="1"/>
                  <a:t>f.seq</a:t>
                </a:r>
                <a:r>
                  <a:rPr kumimoji="1" lang="en-US" altLang="ja-JP" sz="1000" dirty="0"/>
                  <a:t> {</a:t>
                </a:r>
                <a:r>
                  <a:rPr kumimoji="1" lang="en-US" altLang="ja-JP" sz="1000" dirty="0" err="1"/>
                  <a:t>FrameTime</a:t>
                </a:r>
                <a:r>
                  <a:rPr kumimoji="1" lang="en-US" altLang="ja-JP" sz="1000" dirty="0"/>
                  <a:t>=60; </a:t>
                </a:r>
                <a:r>
                  <a:rPr kumimoji="1" lang="en-US" altLang="ja-JP" sz="1000" dirty="0" err="1"/>
                  <a:t>FrameNumber</a:t>
                </a:r>
                <a:r>
                  <a:rPr kumimoji="1" lang="en-US" altLang="ja-JP" sz="1000" dirty="0"/>
                  <a:t>=600} &lt;| fun _ -&gt;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    for </a:t>
                </a:r>
                <a:r>
                  <a:rPr kumimoji="1" lang="en-US" altLang="ja-JP" sz="1000" dirty="0" err="1"/>
                  <a:t>i</a:t>
                </a:r>
                <a:r>
                  <a:rPr kumimoji="1" lang="en-US" altLang="ja-JP" sz="1000" dirty="0"/>
                  <a:t> in 0 .. (n-1) do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        let </a:t>
                </a:r>
                <a:r>
                  <a:rPr kumimoji="1" lang="en-US" altLang="ja-JP" sz="1000" dirty="0">
                    <a:solidFill>
                      <a:srgbClr val="0033FF"/>
                    </a:solidFill>
                  </a:rPr>
                  <a:t>lines1</a:t>
                </a:r>
                <a:r>
                  <a:rPr kumimoji="1" lang="en-US" altLang="ja-JP" sz="1000" dirty="0"/>
                  <a:t> = </a:t>
                </a:r>
                <a:r>
                  <a:rPr kumimoji="1" lang="en-US" altLang="ja-JP" sz="1000" dirty="0" err="1"/>
                  <a:t>f.animationLine</a:t>
                </a:r>
                <a:r>
                  <a:rPr kumimoji="1" lang="en-US" altLang="ja-JP" sz="1000" dirty="0"/>
                  <a:t> Style[</a:t>
                </a:r>
                <a:r>
                  <a:rPr kumimoji="1" lang="en-US" altLang="ja-JP" sz="1000" dirty="0" err="1"/>
                  <a:t>stroke.width</a:t>
                </a:r>
                <a:r>
                  <a:rPr kumimoji="1" lang="en-US" altLang="ja-JP" sz="1000" dirty="0"/>
                  <a:t> 3.0; </a:t>
                </a:r>
                <a:r>
                  <a:rPr kumimoji="1" lang="en-US" altLang="ja-JP" sz="1000" dirty="0" err="1"/>
                  <a:t>stroke.color</a:t>
                </a:r>
                <a:r>
                  <a:rPr kumimoji="1" lang="en-US" altLang="ja-JP" sz="1000" dirty="0"/>
                  <a:t> "#0033ff"]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        let </a:t>
                </a:r>
                <a:r>
                  <a:rPr kumimoji="1" lang="en-US" altLang="ja-JP" sz="1000" dirty="0">
                    <a:solidFill>
                      <a:srgbClr val="006400"/>
                    </a:solidFill>
                  </a:rPr>
                  <a:t>lines2</a:t>
                </a:r>
                <a:r>
                  <a:rPr kumimoji="1" lang="en-US" altLang="ja-JP" sz="1000" dirty="0"/>
                  <a:t> = </a:t>
                </a:r>
                <a:r>
                  <a:rPr kumimoji="1" lang="en-US" altLang="ja-JP" sz="1000" dirty="0" err="1"/>
                  <a:t>f.animationLine</a:t>
                </a:r>
                <a:r>
                  <a:rPr kumimoji="1" lang="en-US" altLang="ja-JP" sz="1000" dirty="0"/>
                  <a:t> Style[</a:t>
                </a:r>
                <a:r>
                  <a:rPr kumimoji="1" lang="en-US" altLang="ja-JP" sz="1000" dirty="0" err="1"/>
                  <a:t>stroke.width</a:t>
                </a:r>
                <a:r>
                  <a:rPr kumimoji="1" lang="en-US" altLang="ja-JP" sz="1000" dirty="0"/>
                  <a:t> 8.0; </a:t>
                </a:r>
                <a:r>
                  <a:rPr kumimoji="1" lang="en-US" altLang="ja-JP" sz="1000" dirty="0" err="1"/>
                  <a:t>stroke.color</a:t>
                </a:r>
                <a:r>
                  <a:rPr kumimoji="1" lang="en-US" altLang="ja-JP" sz="1000" dirty="0"/>
                  <a:t> "#006400"]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        lines1.P {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            Start  = {X = fun _ -&gt; </a:t>
                </a:r>
                <a:r>
                  <a:rPr kumimoji="1" lang="en-US" altLang="ja-JP" sz="1000" dirty="0" err="1"/>
                  <a:t>Dbl_e</a:t>
                </a:r>
                <a:r>
                  <a:rPr kumimoji="1" lang="en-US" altLang="ja-JP" sz="1000" dirty="0"/>
                  <a:t> 10*</a:t>
                </a:r>
                <a:r>
                  <a:rPr kumimoji="1" lang="en-US" altLang="ja-JP" sz="1000" dirty="0" err="1"/>
                  <a:t>i</a:t>
                </a:r>
                <a:endParaRPr kumimoji="1" lang="en-US" altLang="ja-JP" sz="1000" dirty="0"/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                            Y = fun t -&gt; </a:t>
                </a:r>
                <a:r>
                  <a:rPr lang="en-US" altLang="ja-JP" sz="1000" dirty="0"/>
                  <a:t>55</a:t>
                </a:r>
                <a:r>
                  <a:rPr kumimoji="1" lang="en-US" altLang="ja-JP" sz="1000" dirty="0"/>
                  <a:t>0+100*</a:t>
                </a:r>
                <a:r>
                  <a:rPr kumimoji="1" lang="en-US" altLang="ja-JP" sz="1000" dirty="0" err="1"/>
                  <a:t>asm.sin</a:t>
                </a:r>
                <a:r>
                  <a:rPr kumimoji="1" lang="en-US" altLang="ja-JP" sz="1000" dirty="0"/>
                  <a:t>(</a:t>
                </a:r>
                <a:r>
                  <a:rPr kumimoji="1" lang="en-US" altLang="ja-JP" sz="1000" dirty="0" err="1"/>
                  <a:t>Dbl_e</a:t>
                </a:r>
                <a:r>
                  <a:rPr kumimoji="1" lang="en-US" altLang="ja-JP" sz="1000" dirty="0"/>
                  <a:t> </a:t>
                </a:r>
                <a:r>
                  <a:rPr kumimoji="1" lang="en-US" altLang="ja-JP" sz="1000" dirty="0" err="1"/>
                  <a:t>i</a:t>
                </a:r>
                <a:r>
                  <a:rPr kumimoji="1" lang="en-US" altLang="ja-JP" sz="1000" dirty="0"/>
                  <a:t>*0.1-2.0*</a:t>
                </a:r>
                <a:r>
                  <a:rPr kumimoji="1" lang="en-US" altLang="ja-JP" sz="1000" dirty="0" err="1"/>
                  <a:t>Math.PI</a:t>
                </a:r>
                <a:r>
                  <a:rPr kumimoji="1" lang="en-US" altLang="ja-JP" sz="1000" dirty="0"/>
                  <a:t>*t/100)}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            End   = {X = fun _ -&gt; </a:t>
                </a:r>
                <a:r>
                  <a:rPr kumimoji="1" lang="en-US" altLang="ja-JP" sz="1000" dirty="0" err="1"/>
                  <a:t>Dbl_e</a:t>
                </a:r>
                <a:r>
                  <a:rPr kumimoji="1" lang="en-US" altLang="ja-JP" sz="1000" dirty="0"/>
                  <a:t> 10*(i+1)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                            Y = fun t -&gt; </a:t>
                </a:r>
                <a:r>
                  <a:rPr lang="en-US" altLang="ja-JP" sz="1000" dirty="0"/>
                  <a:t>55</a:t>
                </a:r>
                <a:r>
                  <a:rPr kumimoji="1" lang="en-US" altLang="ja-JP" sz="1000" dirty="0"/>
                  <a:t>0+100*</a:t>
                </a:r>
                <a:r>
                  <a:rPr kumimoji="1" lang="en-US" altLang="ja-JP" sz="1000" dirty="0" err="1"/>
                  <a:t>asm.sin</a:t>
                </a:r>
                <a:r>
                  <a:rPr kumimoji="1" lang="en-US" altLang="ja-JP" sz="1000" dirty="0"/>
                  <a:t>(</a:t>
                </a:r>
                <a:r>
                  <a:rPr kumimoji="1" lang="en-US" altLang="ja-JP" sz="1000" dirty="0" err="1"/>
                  <a:t>Dbl_e</a:t>
                </a:r>
                <a:r>
                  <a:rPr kumimoji="1" lang="en-US" altLang="ja-JP" sz="1000" dirty="0"/>
                  <a:t> 0.1*(i+1)-2.0*</a:t>
                </a:r>
                <a:r>
                  <a:rPr kumimoji="1" lang="en-US" altLang="ja-JP" sz="1000" dirty="0" err="1"/>
                  <a:t>Math.PI</a:t>
                </a:r>
                <a:r>
                  <a:rPr kumimoji="1" lang="en-US" altLang="ja-JP" sz="1000" dirty="0"/>
                  <a:t>*t/100)}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000" dirty="0"/>
                  <a:t>        }</a:t>
                </a:r>
                <a:endParaRPr kumimoji="1" lang="ja-JP" altLang="en-US" sz="1000" dirty="0"/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7F750C5-5E7D-471E-937E-8F1E8393266D}"/>
                  </a:ext>
                </a:extLst>
              </p:cNvPr>
              <p:cNvSpPr txBox="1"/>
              <p:nvPr/>
            </p:nvSpPr>
            <p:spPr>
              <a:xfrm>
                <a:off x="1778259" y="5456257"/>
                <a:ext cx="51700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200" dirty="0"/>
                  <a:t>数値解析で使っている</a:t>
                </a:r>
                <a:r>
                  <a:rPr lang="en-US" altLang="ja-JP" sz="1200" dirty="0" err="1"/>
                  <a:t>Aqualis</a:t>
                </a:r>
                <a:r>
                  <a:rPr lang="ja-JP" altLang="en-US" sz="1200" dirty="0"/>
                  <a:t>の数値計算コードを、そのまま利用できる</a:t>
                </a:r>
                <a:endParaRPr kumimoji="1" lang="ja-JP" altLang="en-US" sz="1200" dirty="0"/>
              </a:p>
            </p:txBody>
          </p:sp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1014DA23-367C-46D5-B246-4260ABCAB58D}"/>
                  </a:ext>
                </a:extLst>
              </p:cNvPr>
              <p:cNvSpPr/>
              <p:nvPr/>
            </p:nvSpPr>
            <p:spPr>
              <a:xfrm>
                <a:off x="2744092" y="3904480"/>
                <a:ext cx="3844133" cy="1152129"/>
              </a:xfrm>
              <a:prstGeom prst="rect">
                <a:avLst/>
              </a:prstGeom>
              <a:noFill/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6429F4DB-3CDE-49F7-9FC9-B703631D61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1840" y="5089213"/>
                <a:ext cx="0" cy="39525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99AE2049-B3A4-481E-B17C-200877F9EB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22554" y="4119687"/>
                <a:ext cx="89206" cy="197792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431678D-124C-4E30-BD62-263DDA17DE7D}"/>
                  </a:ext>
                </a:extLst>
              </p:cNvPr>
              <p:cNvSpPr txBox="1"/>
              <p:nvPr/>
            </p:nvSpPr>
            <p:spPr>
              <a:xfrm>
                <a:off x="1991325" y="4291429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200" dirty="0"/>
                  <a:t>始点</a:t>
                </a:r>
              </a:p>
            </p:txBody>
          </p:sp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946A246F-63E3-4681-B4FC-765D6424BF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22554" y="4743376"/>
                <a:ext cx="89206" cy="197792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29E7777-933D-43D3-8535-43CBD5DCD574}"/>
                  </a:ext>
                </a:extLst>
              </p:cNvPr>
              <p:cNvSpPr txBox="1"/>
              <p:nvPr/>
            </p:nvSpPr>
            <p:spPr>
              <a:xfrm>
                <a:off x="1991325" y="4920451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200" dirty="0"/>
                  <a:t>終点</a:t>
                </a:r>
                <a:endParaRPr kumimoji="1" lang="ja-JP" altLang="en-US" sz="1200" dirty="0"/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A78F3D9C-D7D8-48A5-8413-788D7B06B927}"/>
                  </a:ext>
                </a:extLst>
              </p:cNvPr>
              <p:cNvSpPr/>
              <p:nvPr/>
            </p:nvSpPr>
            <p:spPr>
              <a:xfrm>
                <a:off x="1979713" y="2708920"/>
                <a:ext cx="1152128" cy="197792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A0F76591-550E-4646-B0E4-7D3B5B429B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03848" y="2807817"/>
                <a:ext cx="432048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F2AF5953-2A83-4509-9111-D48F02E015BF}"/>
                  </a:ext>
                </a:extLst>
              </p:cNvPr>
              <p:cNvSpPr txBox="1"/>
              <p:nvPr/>
            </p:nvSpPr>
            <p:spPr>
              <a:xfrm>
                <a:off x="3630040" y="2684496"/>
                <a:ext cx="15167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200" dirty="0"/>
                  <a:t>100</a:t>
                </a:r>
                <a:r>
                  <a:rPr lang="ja-JP" altLang="en-US" sz="1200" dirty="0"/>
                  <a:t>本の線分を生成</a:t>
                </a:r>
                <a:endParaRPr kumimoji="1" lang="ja-JP" altLang="en-US" sz="1200" dirty="0"/>
              </a:p>
            </p:txBody>
          </p:sp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F959792D-06D4-4CF3-88B7-5F1683118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43" y="4400819"/>
                <a:ext cx="72008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19AFF9A3-36E7-4B93-ACBB-2F74F4707B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4885" y="5013176"/>
                <a:ext cx="72008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CCF2FA69-F7EE-4943-A49D-54375FF482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9613" y="4092947"/>
                <a:ext cx="31817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49E7860D-3327-4C35-8B1B-3F03801FC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8323" y="4706094"/>
                <a:ext cx="246162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矢印コネクタ 35">
                <a:extLst>
                  <a:ext uri="{FF2B5EF4-FFF2-40B4-BE49-F238E27FC236}">
                    <a16:creationId xmlns:a16="http://schemas.microsoft.com/office/drawing/2014/main" id="{39CA289B-65EB-49EB-B036-38BC50E7E6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74233" y="4432336"/>
                <a:ext cx="37927" cy="124982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B7B7C1B3-8390-4448-B058-2599E41FE396}"/>
                  </a:ext>
                </a:extLst>
              </p:cNvPr>
              <p:cNvSpPr txBox="1"/>
              <p:nvPr/>
            </p:nvSpPr>
            <p:spPr>
              <a:xfrm>
                <a:off x="5644370" y="4514813"/>
                <a:ext cx="5838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200" dirty="0"/>
                  <a:t>時間 </a:t>
                </a:r>
                <a:r>
                  <a:rPr kumimoji="1" lang="en-US" altLang="ja-JP" sz="1200" dirty="0"/>
                  <a:t>t</a:t>
                </a:r>
                <a:endParaRPr kumimoji="1" lang="ja-JP" altLang="en-US" sz="1200" dirty="0"/>
              </a:p>
            </p:txBody>
          </p:sp>
          <p:cxnSp>
            <p:nvCxnSpPr>
              <p:cNvPr id="41" name="直線矢印コネクタ 40">
                <a:extLst>
                  <a:ext uri="{FF2B5EF4-FFF2-40B4-BE49-F238E27FC236}">
                    <a16:creationId xmlns:a16="http://schemas.microsoft.com/office/drawing/2014/main" id="{9B6266AD-7282-4F2B-9BA0-7B89CE09CD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1067" y="4735810"/>
                <a:ext cx="73818" cy="13335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55C319DA-6BC4-4FC2-8BC7-814AF18AD52E}"/>
                </a:ext>
              </a:extLst>
            </p:cNvPr>
            <p:cNvSpPr/>
            <p:nvPr/>
          </p:nvSpPr>
          <p:spPr>
            <a:xfrm>
              <a:off x="1865340" y="2098130"/>
              <a:ext cx="720000" cy="197792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4472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6B0D105-3F36-4ECB-81B1-BB16CC6EC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18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73A44FB-641E-4B03-8FD0-6FE372E3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AF2948B5-020B-4CBC-9CB2-A9E8D4CC2A0D}"/>
              </a:ext>
            </a:extLst>
          </p:cNvPr>
          <p:cNvGrpSpPr/>
          <p:nvPr/>
        </p:nvGrpSpPr>
        <p:grpSpPr>
          <a:xfrm>
            <a:off x="2195736" y="1556792"/>
            <a:ext cx="4501757" cy="1785104"/>
            <a:chOff x="2105656" y="1772816"/>
            <a:chExt cx="4501757" cy="1785104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91BE4ECF-DD25-4458-93B0-D49F9E49FD1E}"/>
                </a:ext>
              </a:extLst>
            </p:cNvPr>
            <p:cNvSpPr txBox="1"/>
            <p:nvPr/>
          </p:nvSpPr>
          <p:spPr>
            <a:xfrm>
              <a:off x="2105656" y="1772816"/>
              <a:ext cx="2784737" cy="1785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/>
                <a:t>const </a:t>
              </a:r>
              <a:r>
                <a:rPr kumimoji="1" lang="en-US" altLang="ja-JP" sz="1000" dirty="0" err="1"/>
                <a:t>animationStartMap</a:t>
              </a:r>
              <a:r>
                <a:rPr kumimoji="1" lang="en-US" altLang="ja-JP" sz="1000" dirty="0"/>
                <a:t> = {</a:t>
              </a:r>
            </a:p>
            <a:p>
              <a:r>
                <a:rPr kumimoji="1" lang="en-US" altLang="ja-JP" sz="1000" dirty="0"/>
                <a:t>start0: () =&gt; {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ja-JP" sz="1000" dirty="0"/>
                <a:t>    </a:t>
              </a:r>
              <a:r>
                <a:rPr kumimoji="1" lang="en-US" altLang="ja-JP" sz="1000" dirty="0" err="1"/>
                <a:t>repeatSeq</a:t>
              </a:r>
              <a:r>
                <a:rPr kumimoji="1" lang="en-US" altLang="ja-JP" sz="1000" dirty="0"/>
                <a:t>(animationSeqID0, 6, 500, () =&gt; {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ja-JP" sz="1000" dirty="0"/>
                <a:t>    </a:t>
              </a:r>
              <a:r>
                <a:rPr kumimoji="1" lang="en-US" altLang="ja-JP" sz="1000" dirty="0" err="1"/>
                <a:t>repeatSeq</a:t>
              </a:r>
              <a:r>
                <a:rPr kumimoji="1" lang="en-US" altLang="ja-JP" sz="1000" dirty="0"/>
                <a:t>(animationSeqID1, 6, 100, () =&gt; {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ja-JP" sz="1000" dirty="0"/>
                <a:t>    });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ja-JP" sz="1000" dirty="0"/>
                <a:t>    });</a:t>
              </a:r>
            </a:p>
            <a:p>
              <a:r>
                <a:rPr kumimoji="1" lang="en-US" altLang="ja-JP" sz="1000" dirty="0"/>
                <a:t>},</a:t>
              </a:r>
            </a:p>
            <a:p>
              <a:r>
                <a:rPr kumimoji="1" lang="en-US" altLang="ja-JP" sz="1000" dirty="0"/>
                <a:t>test: () =&gt; {}</a:t>
              </a:r>
            </a:p>
            <a:p>
              <a:r>
                <a:rPr kumimoji="1" lang="en-US" altLang="ja-JP" sz="1000" dirty="0"/>
                <a:t>};</a:t>
              </a:r>
              <a:endParaRPr kumimoji="1" lang="ja-JP" altLang="en-US" sz="1000" dirty="0"/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2EFB3EB9-A2D2-4C54-87CF-BD40DC8EFF15}"/>
                </a:ext>
              </a:extLst>
            </p:cNvPr>
            <p:cNvCxnSpPr>
              <a:cxnSpLocks/>
            </p:cNvCxnSpPr>
            <p:nvPr/>
          </p:nvCxnSpPr>
          <p:spPr>
            <a:xfrm>
              <a:off x="2295174" y="2339717"/>
              <a:ext cx="2520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D84F095-C74B-4359-8C69-36FF99FE430D}"/>
                </a:ext>
              </a:extLst>
            </p:cNvPr>
            <p:cNvCxnSpPr/>
            <p:nvPr/>
          </p:nvCxnSpPr>
          <p:spPr>
            <a:xfrm>
              <a:off x="2307381" y="2571668"/>
              <a:ext cx="2520000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7700FB7E-9ECB-481A-B353-307D59720D2A}"/>
                </a:ext>
              </a:extLst>
            </p:cNvPr>
            <p:cNvCxnSpPr>
              <a:cxnSpLocks/>
            </p:cNvCxnSpPr>
            <p:nvPr/>
          </p:nvCxnSpPr>
          <p:spPr>
            <a:xfrm>
              <a:off x="2280571" y="3021335"/>
              <a:ext cx="162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B32B3805-451C-43C8-B55E-6D446E029D80}"/>
                </a:ext>
              </a:extLst>
            </p:cNvPr>
            <p:cNvCxnSpPr>
              <a:cxnSpLocks/>
            </p:cNvCxnSpPr>
            <p:nvPr/>
          </p:nvCxnSpPr>
          <p:spPr>
            <a:xfrm>
              <a:off x="2269281" y="2800995"/>
              <a:ext cx="162000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506CA329-59E1-4EE2-87AD-41EDD04662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2385" y="2476895"/>
              <a:ext cx="187200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505696FB-ECED-426B-95E3-2312B6681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3923" y="2260515"/>
              <a:ext cx="185662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A994881-A758-40C9-A360-591D513ED24B}"/>
                </a:ext>
              </a:extLst>
            </p:cNvPr>
            <p:cNvSpPr txBox="1"/>
            <p:nvPr/>
          </p:nvSpPr>
          <p:spPr>
            <a:xfrm>
              <a:off x="5037753" y="2122015"/>
              <a:ext cx="1569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200" dirty="0"/>
                <a:t>破線を描画する処理</a:t>
              </a:r>
              <a:endParaRPr kumimoji="1" lang="ja-JP" altLang="en-US" sz="1200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7DEE09F8-9931-424C-8D77-60D28F6FDA70}"/>
                </a:ext>
              </a:extLst>
            </p:cNvPr>
            <p:cNvSpPr txBox="1"/>
            <p:nvPr/>
          </p:nvSpPr>
          <p:spPr>
            <a:xfrm>
              <a:off x="5036825" y="2339717"/>
              <a:ext cx="1569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/>
                <a:t>円弧を描画する処理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0815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1CED799-931C-43E7-865B-7ABC5BF26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19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37BB057-8D32-44FD-84B4-EDF53EFF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9FCE7E6-20A5-4B15-8271-492F05E940C0}"/>
              </a:ext>
            </a:extLst>
          </p:cNvPr>
          <p:cNvGrpSpPr/>
          <p:nvPr/>
        </p:nvGrpSpPr>
        <p:grpSpPr>
          <a:xfrm>
            <a:off x="749538" y="1283801"/>
            <a:ext cx="4539627" cy="1631216"/>
            <a:chOff x="821635" y="1340769"/>
            <a:chExt cx="4472612" cy="1631216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E266249-884D-4417-A7C0-FEB20D55984B}"/>
                </a:ext>
              </a:extLst>
            </p:cNvPr>
            <p:cNvSpPr txBox="1"/>
            <p:nvPr/>
          </p:nvSpPr>
          <p:spPr>
            <a:xfrm>
              <a:off x="821635" y="1340769"/>
              <a:ext cx="3234803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 err="1"/>
                <a:t>f.seq</a:t>
              </a:r>
              <a:r>
                <a:rPr kumimoji="1" lang="en-US" altLang="ja-JP" sz="1000" dirty="0"/>
                <a:t> {</a:t>
              </a:r>
              <a:r>
                <a:rPr kumimoji="1" lang="en-US" altLang="ja-JP" sz="1000" dirty="0" err="1"/>
                <a:t>FrameTime</a:t>
              </a:r>
              <a:r>
                <a:rPr kumimoji="1" lang="en-US" altLang="ja-JP" sz="1000" dirty="0"/>
                <a:t>=6; </a:t>
              </a:r>
              <a:r>
                <a:rPr kumimoji="1" lang="en-US" altLang="ja-JP" sz="1000" dirty="0" err="1"/>
                <a:t>FrameNumber</a:t>
              </a:r>
              <a:r>
                <a:rPr kumimoji="1" lang="en-US" altLang="ja-JP" sz="1000" dirty="0"/>
                <a:t>=500} &lt;| fun s -&gt;</a:t>
              </a:r>
            </a:p>
            <a:p>
              <a:r>
                <a:rPr kumimoji="1" lang="en-US" altLang="ja-JP" sz="1000" dirty="0"/>
                <a:t>    line1.P {Start = </a:t>
              </a:r>
              <a:r>
                <a:rPr kumimoji="1" lang="en-US" altLang="ja-JP" sz="1000" dirty="0" err="1"/>
                <a:t>constCenter</a:t>
              </a:r>
              <a:endParaRPr kumimoji="1" lang="en-US" altLang="ja-JP" sz="1000" dirty="0"/>
            </a:p>
            <a:p>
              <a:r>
                <a:rPr kumimoji="1" lang="en-US" altLang="ja-JP" sz="1000" dirty="0"/>
                <a:t>             End = {X = fun t -&gt; cx + R*t/(s.FrameNumber-1)</a:t>
              </a:r>
            </a:p>
            <a:p>
              <a:r>
                <a:rPr kumimoji="1" lang="en-US" altLang="ja-JP" sz="1000" dirty="0"/>
                <a:t>                           Y = fun _ -&gt; cy }}</a:t>
              </a:r>
            </a:p>
            <a:p>
              <a:endParaRPr kumimoji="1" lang="en-US" altLang="ja-JP" sz="1000" dirty="0"/>
            </a:p>
            <a:p>
              <a:r>
                <a:rPr kumimoji="1" lang="en-US" altLang="ja-JP" sz="1000" dirty="0" err="1"/>
                <a:t>f.seq</a:t>
              </a:r>
              <a:r>
                <a:rPr kumimoji="1" lang="en-US" altLang="ja-JP" sz="1000" dirty="0"/>
                <a:t> {</a:t>
              </a:r>
              <a:r>
                <a:rPr kumimoji="1" lang="en-US" altLang="ja-JP" sz="1000" dirty="0" err="1"/>
                <a:t>FrameTime</a:t>
              </a:r>
              <a:r>
                <a:rPr kumimoji="1" lang="en-US" altLang="ja-JP" sz="1000" dirty="0"/>
                <a:t>=6; </a:t>
              </a:r>
              <a:r>
                <a:rPr kumimoji="1" lang="en-US" altLang="ja-JP" sz="1000" dirty="0" err="1"/>
                <a:t>FrameNumber</a:t>
              </a:r>
              <a:r>
                <a:rPr kumimoji="1" lang="en-US" altLang="ja-JP" sz="1000" dirty="0"/>
                <a:t>=100} &lt;| fun s -&gt;</a:t>
              </a:r>
            </a:p>
            <a:p>
              <a:r>
                <a:rPr kumimoji="1" lang="en-US" altLang="ja-JP" sz="1000" dirty="0"/>
                <a:t>    elps1.P {center = </a:t>
              </a:r>
              <a:r>
                <a:rPr kumimoji="1" lang="en-US" altLang="ja-JP" sz="1000" dirty="0" err="1"/>
                <a:t>constCenter</a:t>
              </a:r>
              <a:endParaRPr kumimoji="1" lang="en-US" altLang="ja-JP" sz="1000" dirty="0"/>
            </a:p>
            <a:p>
              <a:r>
                <a:rPr kumimoji="1" lang="en-US" altLang="ja-JP" sz="1000" dirty="0"/>
                <a:t>                     angle1 = fun _ -&gt; I 0</a:t>
              </a:r>
            </a:p>
            <a:p>
              <a:r>
                <a:rPr kumimoji="1" lang="en-US" altLang="ja-JP" sz="1000" dirty="0"/>
                <a:t>                     angle2 = fun t -&gt; 360*t/(s.FrameNumber-1)</a:t>
              </a:r>
            </a:p>
            <a:p>
              <a:r>
                <a:rPr kumimoji="1" lang="en-US" altLang="ja-JP" sz="1000" dirty="0"/>
                <a:t>                     radius = fun _ -&gt; R }</a:t>
              </a:r>
              <a:endParaRPr kumimoji="1" lang="ja-JP" altLang="en-US" sz="1000" dirty="0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65F8F90-E276-48F0-8279-D0538A0FB756}"/>
                </a:ext>
              </a:extLst>
            </p:cNvPr>
            <p:cNvSpPr/>
            <p:nvPr/>
          </p:nvSpPr>
          <p:spPr>
            <a:xfrm>
              <a:off x="864267" y="1345794"/>
              <a:ext cx="3192170" cy="6945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E66AF9F-B76B-4074-B838-5C89A4BA369C}"/>
                </a:ext>
              </a:extLst>
            </p:cNvPr>
            <p:cNvSpPr/>
            <p:nvPr/>
          </p:nvSpPr>
          <p:spPr>
            <a:xfrm>
              <a:off x="864268" y="2110761"/>
              <a:ext cx="3192170" cy="86122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CF2D7368-8EA8-41E1-BF3F-1C8AF5439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34028" y="1717919"/>
              <a:ext cx="36000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88A12DD0-BD77-4333-93E6-392DE775DBD2}"/>
                </a:ext>
              </a:extLst>
            </p:cNvPr>
            <p:cNvCxnSpPr/>
            <p:nvPr/>
          </p:nvCxnSpPr>
          <p:spPr>
            <a:xfrm flipH="1">
              <a:off x="4134028" y="2550989"/>
              <a:ext cx="3600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BBA87067-FBED-4DF5-A6DE-E9FCBB06DE23}"/>
                </a:ext>
              </a:extLst>
            </p:cNvPr>
            <p:cNvSpPr txBox="1"/>
            <p:nvPr/>
          </p:nvSpPr>
          <p:spPr>
            <a:xfrm>
              <a:off x="4494028" y="157977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200" dirty="0"/>
                <a:t>破線描画</a:t>
              </a:r>
              <a:endParaRPr kumimoji="1" lang="ja-JP" altLang="en-US" sz="1200" dirty="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1535015-E852-44FA-9421-0FF82404519F}"/>
                </a:ext>
              </a:extLst>
            </p:cNvPr>
            <p:cNvSpPr txBox="1"/>
            <p:nvPr/>
          </p:nvSpPr>
          <p:spPr>
            <a:xfrm>
              <a:off x="4494027" y="2402873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200" dirty="0"/>
                <a:t>円弧描画</a:t>
              </a:r>
              <a:endParaRPr kumimoji="1" lang="ja-JP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04171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3D7097D-BA42-4829-8AF6-AD263A79E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20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A1A8BF1-B525-4561-BF59-8D4B5428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66A7691-E4CE-45D5-925E-735D265423D5}"/>
              </a:ext>
            </a:extLst>
          </p:cNvPr>
          <p:cNvGrpSpPr/>
          <p:nvPr/>
        </p:nvGrpSpPr>
        <p:grpSpPr>
          <a:xfrm>
            <a:off x="681069" y="1484784"/>
            <a:ext cx="5903860" cy="5207388"/>
            <a:chOff x="822724" y="3560398"/>
            <a:chExt cx="5903860" cy="520738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BEA1D38-E47A-49D5-8DE1-4ADB037FB133}"/>
                </a:ext>
              </a:extLst>
            </p:cNvPr>
            <p:cNvSpPr/>
            <p:nvPr/>
          </p:nvSpPr>
          <p:spPr>
            <a:xfrm>
              <a:off x="873524" y="3691632"/>
              <a:ext cx="720000" cy="252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3B7035F-10E0-40D9-A904-7FF8BE840450}"/>
                </a:ext>
              </a:extLst>
            </p:cNvPr>
            <p:cNvSpPr/>
            <p:nvPr/>
          </p:nvSpPr>
          <p:spPr>
            <a:xfrm>
              <a:off x="1102916" y="5532241"/>
              <a:ext cx="1440000" cy="252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F978412-3172-49CF-8BEF-31491AD3C2DF}"/>
                </a:ext>
              </a:extLst>
            </p:cNvPr>
            <p:cNvSpPr/>
            <p:nvPr/>
          </p:nvSpPr>
          <p:spPr>
            <a:xfrm>
              <a:off x="973024" y="5157192"/>
              <a:ext cx="1440000" cy="252000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844865C-65C3-47A1-9E24-3C4E7812A948}"/>
                </a:ext>
              </a:extLst>
            </p:cNvPr>
            <p:cNvSpPr/>
            <p:nvPr/>
          </p:nvSpPr>
          <p:spPr>
            <a:xfrm>
              <a:off x="873524" y="4051383"/>
              <a:ext cx="756000" cy="252000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D4C8B52-D345-430C-90E6-1F2E131D7BDE}"/>
                </a:ext>
              </a:extLst>
            </p:cNvPr>
            <p:cNvSpPr txBox="1"/>
            <p:nvPr/>
          </p:nvSpPr>
          <p:spPr>
            <a:xfrm>
              <a:off x="3216774" y="5504352"/>
              <a:ext cx="27142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400" dirty="0"/>
                <a:t>円を横方向にずらして</a:t>
              </a:r>
              <a:r>
                <a:rPr lang="en-US" altLang="ja-JP" sz="1400" dirty="0"/>
                <a:t>40</a:t>
              </a:r>
              <a:r>
                <a:rPr lang="ja-JP" altLang="en-US" sz="1400" dirty="0"/>
                <a:t>個配置</a:t>
              </a:r>
              <a:endParaRPr kumimoji="1" lang="ja-JP" altLang="en-US" sz="14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DB8B5E7-FE31-4C5D-8066-2A7A44BD3830}"/>
                </a:ext>
              </a:extLst>
            </p:cNvPr>
            <p:cNvSpPr txBox="1"/>
            <p:nvPr/>
          </p:nvSpPr>
          <p:spPr>
            <a:xfrm>
              <a:off x="3042850" y="5129303"/>
              <a:ext cx="28937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/>
                <a:t>円で構成した波形を縦に</a:t>
              </a:r>
              <a:r>
                <a:rPr kumimoji="1" lang="en-US" altLang="ja-JP" sz="1400" dirty="0"/>
                <a:t>10</a:t>
              </a:r>
              <a:r>
                <a:rPr kumimoji="1" lang="ja-JP" altLang="en-US" sz="1400" dirty="0"/>
                <a:t>段配置</a:t>
              </a: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95772CC-DE60-4CBF-AE65-8D8BC30C4E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2916" y="5301208"/>
              <a:ext cx="50405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D828BCFA-F22B-4C83-BDA9-245B0E873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8968" y="5661248"/>
              <a:ext cx="50405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207081E-AC4F-447E-8462-461576C9EEBD}"/>
                </a:ext>
              </a:extLst>
            </p:cNvPr>
            <p:cNvSpPr txBox="1"/>
            <p:nvPr/>
          </p:nvSpPr>
          <p:spPr>
            <a:xfrm>
              <a:off x="822724" y="3560398"/>
              <a:ext cx="5903860" cy="5207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let n = 40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let m = 10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let </a:t>
              </a:r>
              <a:r>
                <a:rPr kumimoji="1" lang="en-US" altLang="ja-JP" sz="1200" dirty="0" err="1"/>
                <a:t>pointR</a:t>
              </a:r>
              <a:r>
                <a:rPr kumimoji="1" lang="en-US" altLang="ja-JP" sz="1200" dirty="0"/>
                <a:t> = I 5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 err="1"/>
                <a:t>f.seq</a:t>
              </a:r>
              <a:r>
                <a:rPr kumimoji="1" lang="en-US" altLang="ja-JP" sz="1200" dirty="0"/>
                <a:t> {</a:t>
              </a:r>
              <a:r>
                <a:rPr kumimoji="1" lang="en-US" altLang="ja-JP" sz="1200" dirty="0" err="1"/>
                <a:t>FrameTime</a:t>
              </a:r>
              <a:r>
                <a:rPr kumimoji="1" lang="en-US" altLang="ja-JP" sz="1200" dirty="0"/>
                <a:t>=60; </a:t>
              </a:r>
              <a:r>
                <a:rPr kumimoji="1" lang="en-US" altLang="ja-JP" sz="1200" dirty="0" err="1"/>
                <a:t>FrameNumber</a:t>
              </a:r>
              <a:r>
                <a:rPr kumimoji="1" lang="en-US" altLang="ja-JP" sz="1200" dirty="0"/>
                <a:t>=900} &lt;| fun _ -&gt;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for j in 0 .. (m-1) do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for </a:t>
              </a:r>
              <a:r>
                <a:rPr kumimoji="1" lang="en-US" altLang="ja-JP" sz="1200" dirty="0" err="1"/>
                <a:t>i</a:t>
              </a:r>
              <a:r>
                <a:rPr kumimoji="1" lang="en-US" altLang="ja-JP" sz="1200" dirty="0"/>
                <a:t> in 0 .. (n-1) do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    let elps0 = </a:t>
              </a:r>
              <a:r>
                <a:rPr kumimoji="1" lang="en-US" altLang="ja-JP" sz="1200" dirty="0" err="1"/>
                <a:t>f.animationEllipse</a:t>
              </a:r>
              <a:r>
                <a:rPr kumimoji="1" lang="en-US" altLang="ja-JP" sz="1200" dirty="0"/>
                <a:t> Style[</a:t>
              </a:r>
              <a:r>
                <a:rPr kumimoji="1" lang="en-US" altLang="ja-JP" sz="1200" dirty="0" err="1"/>
                <a:t>stroke.width</a:t>
              </a:r>
              <a:r>
                <a:rPr kumimoji="1" lang="en-US" altLang="ja-JP" sz="1200" dirty="0"/>
                <a:t> 3.0;</a:t>
              </a:r>
            </a:p>
            <a:p>
              <a:pPr>
                <a:lnSpc>
                  <a:spcPct val="200000"/>
                </a:lnSpc>
              </a:pPr>
              <a:r>
                <a:rPr lang="en-US" altLang="ja-JP" sz="1200" dirty="0"/>
                <a:t>			</a:t>
              </a:r>
              <a:r>
                <a:rPr lang="ja-JP" altLang="en-US" sz="1200" dirty="0"/>
                <a:t>  </a:t>
              </a:r>
              <a:r>
                <a:rPr kumimoji="1" lang="en-US" altLang="ja-JP" sz="1200" dirty="0"/>
                <a:t> </a:t>
              </a:r>
              <a:r>
                <a:rPr kumimoji="1" lang="en-US" altLang="ja-JP" sz="1200" dirty="0" err="1"/>
                <a:t>stroke.color</a:t>
              </a:r>
              <a:r>
                <a:rPr kumimoji="1" lang="en-US" altLang="ja-JP" sz="1200" dirty="0"/>
                <a:t> "#0000ff"; </a:t>
              </a:r>
            </a:p>
            <a:p>
              <a:pPr>
                <a:lnSpc>
                  <a:spcPct val="200000"/>
                </a:lnSpc>
              </a:pPr>
              <a:r>
                <a:rPr lang="en-US" altLang="ja-JP" sz="1200" dirty="0"/>
                <a:t>			   </a:t>
              </a:r>
              <a:r>
                <a:rPr kumimoji="1" lang="en-US" altLang="ja-JP" sz="1200" dirty="0" err="1"/>
                <a:t>stroke.fill</a:t>
              </a:r>
              <a:r>
                <a:rPr kumimoji="1" lang="en-US" altLang="ja-JP" sz="1200" dirty="0"/>
                <a:t> "#0000ff";]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    elps0.P {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        center = { X = (fun _ -&gt; </a:t>
              </a:r>
              <a:r>
                <a:rPr kumimoji="1" lang="en-US" altLang="ja-JP" sz="1200" dirty="0" err="1"/>
                <a:t>Dbl_e</a:t>
              </a:r>
              <a:r>
                <a:rPr kumimoji="1" lang="en-US" altLang="ja-JP" sz="1200" dirty="0"/>
                <a:t> 10+20*</a:t>
              </a:r>
              <a:r>
                <a:rPr kumimoji="1" lang="en-US" altLang="ja-JP" sz="1200" dirty="0" err="1"/>
                <a:t>i</a:t>
              </a:r>
              <a:r>
                <a:rPr kumimoji="1" lang="en-US" altLang="ja-JP" sz="1200" dirty="0"/>
                <a:t> );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                   </a:t>
              </a:r>
              <a:r>
                <a:rPr kumimoji="1" lang="ja-JP" altLang="en-US" sz="1200" dirty="0"/>
                <a:t>　　</a:t>
              </a:r>
              <a:r>
                <a:rPr kumimoji="1" lang="en-US" altLang="ja-JP" sz="1200" dirty="0"/>
                <a:t>Y = fun t -&gt; 0+100*j+100*</a:t>
              </a:r>
              <a:r>
                <a:rPr kumimoji="1" lang="en-US" altLang="ja-JP" sz="1200" dirty="0" err="1"/>
                <a:t>asm.sin</a:t>
              </a:r>
              <a:r>
                <a:rPr kumimoji="1" lang="en-US" altLang="ja-JP" sz="1200" dirty="0"/>
                <a:t>(</a:t>
              </a:r>
              <a:r>
                <a:rPr kumimoji="1" lang="en-US" altLang="ja-JP" sz="1200" dirty="0" err="1"/>
                <a:t>Dbl_e</a:t>
              </a:r>
              <a:r>
                <a:rPr kumimoji="1" lang="en-US" altLang="ja-JP" sz="1200" dirty="0"/>
                <a:t> </a:t>
              </a:r>
              <a:r>
                <a:rPr kumimoji="1" lang="en-US" altLang="ja-JP" sz="1200" dirty="0" err="1"/>
                <a:t>i</a:t>
              </a:r>
              <a:r>
                <a:rPr kumimoji="1" lang="en-US" altLang="ja-JP" sz="1200" dirty="0"/>
                <a:t>*0.1-2.0*</a:t>
              </a:r>
              <a:r>
                <a:rPr kumimoji="1" lang="en-US" altLang="ja-JP" sz="1200" dirty="0" err="1"/>
                <a:t>Math.PI</a:t>
              </a:r>
              <a:r>
                <a:rPr kumimoji="1" lang="en-US" altLang="ja-JP" sz="1200" dirty="0"/>
                <a:t>*t/100)}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       	</a:t>
              </a:r>
              <a:r>
                <a:rPr kumimoji="1" lang="ja-JP" altLang="en-US" sz="1200" dirty="0"/>
                <a:t>　　</a:t>
              </a:r>
              <a:r>
                <a:rPr kumimoji="1" lang="en-US" altLang="ja-JP" sz="1200" dirty="0" err="1"/>
                <a:t>radiusX</a:t>
              </a:r>
              <a:r>
                <a:rPr kumimoji="1" lang="en-US" altLang="ja-JP" sz="1200" dirty="0"/>
                <a:t> = fun _ -&gt; </a:t>
              </a:r>
              <a:r>
                <a:rPr kumimoji="1" lang="en-US" altLang="ja-JP" sz="1200" dirty="0" err="1"/>
                <a:t>pointR</a:t>
              </a:r>
              <a:endParaRPr kumimoji="1" lang="en-US" altLang="ja-JP" sz="1200" dirty="0"/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        	</a:t>
              </a:r>
              <a:r>
                <a:rPr kumimoji="1" lang="ja-JP" altLang="en-US" sz="1200" dirty="0"/>
                <a:t>　　</a:t>
              </a:r>
              <a:r>
                <a:rPr kumimoji="1" lang="en-US" altLang="ja-JP" sz="1200" dirty="0" err="1"/>
                <a:t>radiusY</a:t>
              </a:r>
              <a:r>
                <a:rPr kumimoji="1" lang="en-US" altLang="ja-JP" sz="1200" dirty="0"/>
                <a:t> = fun _ -&gt; </a:t>
              </a:r>
              <a:r>
                <a:rPr kumimoji="1" lang="en-US" altLang="ja-JP" sz="1200" dirty="0" err="1"/>
                <a:t>pointR</a:t>
              </a:r>
              <a:r>
                <a:rPr kumimoji="1" lang="en-US" altLang="ja-JP" sz="1200" dirty="0"/>
                <a:t>}</a:t>
              </a:r>
              <a:endParaRPr kumimoji="1" lang="ja-JP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23822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8ABB0EC-6576-4FFD-8AD8-912DB70A7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21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FC6BD3D-9141-4B41-A380-72DD4F40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5BD15D2-9CD2-4C70-A470-7987E0953CAD}"/>
              </a:ext>
            </a:extLst>
          </p:cNvPr>
          <p:cNvGrpSpPr/>
          <p:nvPr/>
        </p:nvGrpSpPr>
        <p:grpSpPr>
          <a:xfrm>
            <a:off x="2062648" y="2276872"/>
            <a:ext cx="5240341" cy="1530986"/>
            <a:chOff x="2062648" y="2276872"/>
            <a:chExt cx="5240341" cy="1530986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C9CECAFA-F97C-42CB-BB5F-78A62C75A58E}"/>
                </a:ext>
              </a:extLst>
            </p:cNvPr>
            <p:cNvGrpSpPr/>
            <p:nvPr/>
          </p:nvGrpSpPr>
          <p:grpSpPr>
            <a:xfrm>
              <a:off x="2062648" y="2276872"/>
              <a:ext cx="5240341" cy="1530986"/>
              <a:chOff x="2050122" y="2276872"/>
              <a:chExt cx="5240341" cy="1530986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754DE2D-052D-48F5-B621-5A452F55907E}"/>
                  </a:ext>
                </a:extLst>
              </p:cNvPr>
              <p:cNvSpPr txBox="1"/>
              <p:nvPr/>
            </p:nvSpPr>
            <p:spPr>
              <a:xfrm>
                <a:off x="2123728" y="2276872"/>
                <a:ext cx="5166735" cy="11447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kumimoji="1" lang="en-US" altLang="ja-JP" sz="1200" dirty="0" err="1"/>
                  <a:t>html.animation</a:t>
                </a:r>
                <a:r>
                  <a:rPr kumimoji="1" lang="en-US" altLang="ja-JP" sz="1200" dirty="0"/>
                  <a:t> </a:t>
                </a:r>
                <a:r>
                  <a:rPr kumimoji="1" lang="en-US" altLang="ja-JP" sz="1200" dirty="0" err="1"/>
                  <a:t>outputdir</a:t>
                </a:r>
                <a:r>
                  <a:rPr kumimoji="1" lang="en-US" altLang="ja-JP" sz="1200" dirty="0"/>
                  <a:t> "</a:t>
                </a:r>
                <a:r>
                  <a:rPr kumimoji="1" lang="en-US" altLang="ja-JP" sz="1200" dirty="0" err="1"/>
                  <a:t>PresentationSlide_nishimura</a:t>
                </a:r>
                <a:r>
                  <a:rPr kumimoji="1" lang="en-US" altLang="ja-JP" sz="1200" dirty="0"/>
                  <a:t>" 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200" dirty="0"/>
                  <a:t>           {</a:t>
                </a:r>
                <a:r>
                  <a:rPr kumimoji="1" lang="en-US" altLang="ja-JP" sz="1200" dirty="0" err="1"/>
                  <a:t>sX</a:t>
                </a:r>
                <a:r>
                  <a:rPr kumimoji="1" lang="en-US" altLang="ja-JP" sz="1200" dirty="0"/>
                  <a:t>=800; </a:t>
                </a:r>
                <a:r>
                  <a:rPr kumimoji="1" lang="en-US" altLang="ja-JP" sz="1200" dirty="0" err="1"/>
                  <a:t>sY</a:t>
                </a:r>
                <a:r>
                  <a:rPr kumimoji="1" lang="en-US" altLang="ja-JP" sz="1200" dirty="0"/>
                  <a:t>=580; </a:t>
                </a:r>
                <a:r>
                  <a:rPr kumimoji="1" lang="en-US" altLang="ja-JP" sz="1200" dirty="0" err="1"/>
                  <a:t>mX</a:t>
                </a:r>
                <a:r>
                  <a:rPr kumimoji="1" lang="en-US" altLang="ja-JP" sz="1200" dirty="0"/>
                  <a:t>=1040; </a:t>
                </a:r>
                <a:r>
                  <a:rPr kumimoji="1" lang="en-US" altLang="ja-JP" sz="1200" dirty="0" err="1"/>
                  <a:t>mY</a:t>
                </a:r>
                <a:r>
                  <a:rPr kumimoji="1" lang="en-US" altLang="ja-JP" sz="1200" dirty="0"/>
                  <a:t>=450; </a:t>
                </a:r>
                <a:r>
                  <a:rPr kumimoji="1" lang="en-US" altLang="ja-JP" sz="1200" dirty="0" err="1"/>
                  <a:t>backgroundColor</a:t>
                </a:r>
                <a:r>
                  <a:rPr kumimoji="1" lang="en-US" altLang="ja-JP" sz="1200" dirty="0"/>
                  <a:t>="#</a:t>
                </a:r>
                <a:r>
                  <a:rPr kumimoji="1" lang="en-US" altLang="ja-JP" sz="1200" dirty="0" err="1"/>
                  <a:t>bbeeff</a:t>
                </a:r>
                <a:r>
                  <a:rPr kumimoji="1" lang="en-US" altLang="ja-JP" sz="1200" dirty="0"/>
                  <a:t>"}</a:t>
                </a:r>
              </a:p>
              <a:p>
                <a:pPr>
                  <a:lnSpc>
                    <a:spcPct val="200000"/>
                  </a:lnSpc>
                </a:pPr>
                <a:r>
                  <a:rPr kumimoji="1" lang="en-US" altLang="ja-JP" sz="1200" dirty="0"/>
                  <a:t>            p (960,450) &lt;| fun (</a:t>
                </a:r>
                <a:r>
                  <a:rPr kumimoji="1" lang="en-US" altLang="ja-JP" sz="1200" dirty="0" err="1"/>
                  <a:t>f,p</a:t>
                </a:r>
                <a:r>
                  <a:rPr kumimoji="1" lang="en-US" altLang="ja-JP" sz="1200" dirty="0"/>
                  <a:t>) -&gt;</a:t>
                </a:r>
                <a:endParaRPr kumimoji="1" lang="ja-JP" altLang="en-US" sz="1200" dirty="0"/>
              </a:p>
            </p:txBody>
          </p:sp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7BF471B0-AA93-478E-AD2F-2EB2D4BA39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53723" y="3011241"/>
                <a:ext cx="1330048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D628D15E-BCC0-49AE-A521-D0A2D2A2D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5499" y="3011241"/>
                <a:ext cx="1089646" cy="0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コネクタ 7">
                <a:extLst>
                  <a:ext uri="{FF2B5EF4-FFF2-40B4-BE49-F238E27FC236}">
                    <a16:creationId xmlns:a16="http://schemas.microsoft.com/office/drawing/2014/main" id="{2D96BF25-B0A8-453A-B772-0F46ED4149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6224" y="3007618"/>
                <a:ext cx="1956344" cy="8632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FE3F8F6E-9A2A-4F8A-89A1-2354105C7A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9338" y="3068960"/>
                <a:ext cx="288032" cy="36743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30FAE7DE-D86F-4A9D-8678-43D4F574B8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68144" y="3068960"/>
                <a:ext cx="0" cy="35280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B9D3B203-FD47-468F-AA2F-3899D0A66EB8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 flipH="1" flipV="1">
                <a:off x="4644010" y="3068961"/>
                <a:ext cx="63086" cy="352648"/>
              </a:xfrm>
              <a:prstGeom prst="straightConnector1">
                <a:avLst/>
              </a:prstGeom>
              <a:ln w="190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3ECB0648-94E9-433F-A593-CA724B7B4B10}"/>
                  </a:ext>
                </a:extLst>
              </p:cNvPr>
              <p:cNvSpPr txBox="1"/>
              <p:nvPr/>
            </p:nvSpPr>
            <p:spPr>
              <a:xfrm>
                <a:off x="4451388" y="342900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/>
                  <a:t>位置</a:t>
                </a:r>
                <a:endParaRPr kumimoji="1" lang="ja-JP" altLang="en-US" dirty="0"/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C1797094-2AEF-4FA1-B59B-6B8516EDE8FB}"/>
                  </a:ext>
                </a:extLst>
              </p:cNvPr>
              <p:cNvSpPr txBox="1"/>
              <p:nvPr/>
            </p:nvSpPr>
            <p:spPr>
              <a:xfrm>
                <a:off x="5506506" y="3438526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背景色</a:t>
                </a: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7555171C-9781-4FA5-862E-1447B8AD7733}"/>
                  </a:ext>
                </a:extLst>
              </p:cNvPr>
              <p:cNvSpPr txBox="1"/>
              <p:nvPr/>
            </p:nvSpPr>
            <p:spPr>
              <a:xfrm>
                <a:off x="2050122" y="3436392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サイズ</a:t>
                </a:r>
              </a:p>
            </p:txBody>
          </p:sp>
        </p:grp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F58AF4BC-5EC4-427E-98A9-D0F8B70CE5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4575" y="2644427"/>
              <a:ext cx="744639" cy="325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6349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43056AA-E559-49A6-9837-E05B12E1C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22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518A498-3766-48EF-A633-5A38AF84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6A5274C-B184-4D14-A321-FFA911DB0F28}"/>
              </a:ext>
            </a:extLst>
          </p:cNvPr>
          <p:cNvGrpSpPr/>
          <p:nvPr/>
        </p:nvGrpSpPr>
        <p:grpSpPr>
          <a:xfrm>
            <a:off x="1259632" y="2348880"/>
            <a:ext cx="5609366" cy="2252733"/>
            <a:chOff x="1259632" y="2348880"/>
            <a:chExt cx="5609366" cy="2252733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E74069C-B76F-454D-A78F-0F18B4317DAB}"/>
                </a:ext>
              </a:extLst>
            </p:cNvPr>
            <p:cNvSpPr txBox="1"/>
            <p:nvPr/>
          </p:nvSpPr>
          <p:spPr>
            <a:xfrm>
              <a:off x="1259632" y="2348880"/>
              <a:ext cx="5237844" cy="22527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let line0 = </a:t>
              </a:r>
              <a:r>
                <a:rPr kumimoji="1" lang="en-US" altLang="ja-JP" sz="1200" dirty="0" err="1"/>
                <a:t>f.animationLine</a:t>
              </a:r>
              <a:r>
                <a:rPr kumimoji="1" lang="en-US" altLang="ja-JP" sz="1200" dirty="0"/>
                <a:t> Style[</a:t>
              </a:r>
              <a:r>
                <a:rPr kumimoji="1" lang="en-US" altLang="ja-JP" sz="1200" dirty="0" err="1"/>
                <a:t>stroke.width</a:t>
              </a:r>
              <a:r>
                <a:rPr kumimoji="1" lang="en-US" altLang="ja-JP" sz="1200" dirty="0"/>
                <a:t> 3.0; </a:t>
              </a:r>
              <a:r>
                <a:rPr kumimoji="1" lang="en-US" altLang="ja-JP" sz="1200" dirty="0" err="1"/>
                <a:t>stroke.color</a:t>
              </a:r>
              <a:r>
                <a:rPr kumimoji="1" lang="en-US" altLang="ja-JP" sz="1200" dirty="0"/>
                <a:t> "#ff4c4c"]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 err="1"/>
                <a:t>f.seq</a:t>
              </a:r>
              <a:r>
                <a:rPr kumimoji="1" lang="en-US" altLang="ja-JP" sz="1200" dirty="0"/>
                <a:t> {</a:t>
              </a:r>
              <a:r>
                <a:rPr kumimoji="1" lang="en-US" altLang="ja-JP" sz="1200" dirty="0" err="1"/>
                <a:t>FrameTime</a:t>
              </a:r>
              <a:r>
                <a:rPr kumimoji="1" lang="en-US" altLang="ja-JP" sz="1200" dirty="0"/>
                <a:t>=30; </a:t>
              </a:r>
              <a:r>
                <a:rPr kumimoji="1" lang="en-US" altLang="ja-JP" sz="1200" dirty="0" err="1"/>
                <a:t>FrameNumber</a:t>
              </a:r>
              <a:r>
                <a:rPr kumimoji="1" lang="en-US" altLang="ja-JP" sz="1200" dirty="0"/>
                <a:t>=1000} &lt;| fun _ -&gt;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line0.P {Start = {X = fun _ -&gt; </a:t>
              </a:r>
              <a:r>
                <a:rPr kumimoji="1" lang="en-US" altLang="ja-JP" sz="1200" dirty="0" err="1"/>
                <a:t>Dbl_e</a:t>
              </a:r>
              <a:r>
                <a:rPr kumimoji="1" lang="en-US" altLang="ja-JP" sz="1200" dirty="0"/>
                <a:t> 200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                  	</a:t>
              </a:r>
              <a:r>
                <a:rPr kumimoji="1" lang="ja-JP" altLang="en-US" sz="1200" dirty="0"/>
                <a:t>　　　</a:t>
              </a:r>
              <a:r>
                <a:rPr kumimoji="1" lang="en-US" altLang="ja-JP" sz="1200" dirty="0"/>
                <a:t>Y = fun t -&gt; 240+100*</a:t>
              </a:r>
              <a:r>
                <a:rPr kumimoji="1" lang="en-US" altLang="ja-JP" sz="1200" dirty="0" err="1"/>
                <a:t>asm.sin</a:t>
              </a:r>
              <a:r>
                <a:rPr kumimoji="1" lang="en-US" altLang="ja-JP" sz="1200" dirty="0"/>
                <a:t>(-2.0*</a:t>
              </a:r>
              <a:r>
                <a:rPr kumimoji="1" lang="en-US" altLang="ja-JP" sz="1200" dirty="0" err="1"/>
                <a:t>Math.PI</a:t>
              </a:r>
              <a:r>
                <a:rPr kumimoji="1" lang="en-US" altLang="ja-JP" sz="1200" dirty="0"/>
                <a:t>*t/100)}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         </a:t>
              </a:r>
              <a:r>
                <a:rPr kumimoji="1" lang="ja-JP" altLang="en-US" sz="1200" dirty="0"/>
                <a:t>　   </a:t>
              </a:r>
              <a:r>
                <a:rPr kumimoji="1" lang="en-US" altLang="ja-JP" sz="1200" dirty="0"/>
                <a:t>End   = {X = fun _ -&gt; </a:t>
              </a:r>
              <a:r>
                <a:rPr kumimoji="1" lang="en-US" altLang="ja-JP" sz="1200" dirty="0" err="1"/>
                <a:t>Dbl_e</a:t>
              </a:r>
              <a:r>
                <a:rPr kumimoji="1" lang="en-US" altLang="ja-JP" sz="1200" dirty="0"/>
                <a:t> 400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ja-JP" sz="1200" dirty="0"/>
                <a:t>                        	              Y = fun t -&gt; 240+100*</a:t>
              </a:r>
              <a:r>
                <a:rPr kumimoji="1" lang="en-US" altLang="ja-JP" sz="1200" dirty="0" err="1"/>
                <a:t>asm.sin</a:t>
              </a:r>
              <a:r>
                <a:rPr kumimoji="1" lang="en-US" altLang="ja-JP" sz="1200" dirty="0"/>
                <a:t>(2.0*</a:t>
              </a:r>
              <a:r>
                <a:rPr kumimoji="1" lang="en-US" altLang="ja-JP" sz="1200" dirty="0" err="1"/>
                <a:t>Math.PI</a:t>
              </a:r>
              <a:r>
                <a:rPr kumimoji="1" lang="en-US" altLang="ja-JP" sz="1200" dirty="0"/>
                <a:t>*t/100)}}</a:t>
              </a:r>
              <a:endParaRPr kumimoji="1" lang="ja-JP" altLang="en-US" sz="1200" dirty="0"/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15B727DE-F58F-46D1-A575-26F49D064505}"/>
                </a:ext>
              </a:extLst>
            </p:cNvPr>
            <p:cNvCxnSpPr/>
            <p:nvPr/>
          </p:nvCxnSpPr>
          <p:spPr>
            <a:xfrm>
              <a:off x="3563888" y="2704728"/>
              <a:ext cx="2808312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CB196843-EFDA-4504-AE68-52B6612AB9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8144" y="2742828"/>
              <a:ext cx="72008" cy="144016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364D205-7D1C-4A78-8289-EE522EE1C6F1}"/>
                </a:ext>
              </a:extLst>
            </p:cNvPr>
            <p:cNvSpPr txBox="1"/>
            <p:nvPr/>
          </p:nvSpPr>
          <p:spPr>
            <a:xfrm>
              <a:off x="5299338" y="2857252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線の太さ・色</a:t>
              </a:r>
              <a:endParaRPr kumimoji="1" lang="ja-JP" altLang="en-US" dirty="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B3310D56-953F-486B-8873-8D13ACF0DF7D}"/>
                </a:ext>
              </a:extLst>
            </p:cNvPr>
            <p:cNvSpPr/>
            <p:nvPr/>
          </p:nvSpPr>
          <p:spPr>
            <a:xfrm>
              <a:off x="2627784" y="3212976"/>
              <a:ext cx="3528392" cy="63406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79E6E0F6-FB3F-45CC-BA58-4321E836AA29}"/>
                </a:ext>
              </a:extLst>
            </p:cNvPr>
            <p:cNvSpPr/>
            <p:nvPr/>
          </p:nvSpPr>
          <p:spPr>
            <a:xfrm>
              <a:off x="2627784" y="3948499"/>
              <a:ext cx="3528392" cy="634064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8215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F8A19A6-3B40-488D-8DC1-960DEBCA2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23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D745413-E1EE-42C6-8F04-58C65517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F4E2434-A2BA-4FBB-9F31-AEEE756E369D}"/>
              </a:ext>
            </a:extLst>
          </p:cNvPr>
          <p:cNvGrpSpPr/>
          <p:nvPr/>
        </p:nvGrpSpPr>
        <p:grpSpPr>
          <a:xfrm>
            <a:off x="2759104" y="2023959"/>
            <a:ext cx="4189160" cy="1405041"/>
            <a:chOff x="2699792" y="2072874"/>
            <a:chExt cx="4189160" cy="1405041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7ABF99C-001D-4A56-8D6C-A345ECC6684B}"/>
                </a:ext>
              </a:extLst>
            </p:cNvPr>
            <p:cNvSpPr txBox="1"/>
            <p:nvPr/>
          </p:nvSpPr>
          <p:spPr>
            <a:xfrm>
              <a:off x="2699792" y="2276872"/>
              <a:ext cx="4189160" cy="1167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ja-JP" sz="1200" dirty="0"/>
                <a:t>const </a:t>
              </a:r>
              <a:r>
                <a:rPr kumimoji="1" lang="en-US" altLang="ja-JP" sz="1200" dirty="0" err="1"/>
                <a:t>animationStartMap</a:t>
              </a:r>
              <a:r>
                <a:rPr kumimoji="1" lang="en-US" altLang="ja-JP" sz="1200" dirty="0"/>
                <a:t> = {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ja-JP" sz="1200" dirty="0"/>
                <a:t>start0: () =&gt; {</a:t>
              </a:r>
              <a:r>
                <a:rPr kumimoji="1" lang="en-US" altLang="ja-JP" sz="1200" dirty="0" err="1"/>
                <a:t>repeatSeq</a:t>
              </a:r>
              <a:r>
                <a:rPr kumimoji="1" lang="en-US" altLang="ja-JP" sz="1200" dirty="0"/>
                <a:t>(animationSeqID0, 6, 50, () =&gt; {});},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ja-JP" sz="1200" dirty="0"/>
                <a:t>test: () =&gt; {}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ja-JP" sz="1200" dirty="0"/>
                <a:t>};</a:t>
              </a:r>
              <a:endParaRPr kumimoji="1" lang="ja-JP" altLang="en-US" sz="1200" dirty="0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04BA57C5-023B-4EA7-A954-E24040B2F9D3}"/>
                </a:ext>
              </a:extLst>
            </p:cNvPr>
            <p:cNvCxnSpPr>
              <a:cxnSpLocks/>
            </p:cNvCxnSpPr>
            <p:nvPr/>
          </p:nvCxnSpPr>
          <p:spPr>
            <a:xfrm>
              <a:off x="5669350" y="2832210"/>
              <a:ext cx="13211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F5FB9EF7-4B4A-40DB-AF54-DC533B6058A2}"/>
                </a:ext>
              </a:extLst>
            </p:cNvPr>
            <p:cNvCxnSpPr>
              <a:cxnSpLocks/>
            </p:cNvCxnSpPr>
            <p:nvPr/>
          </p:nvCxnSpPr>
          <p:spPr>
            <a:xfrm>
              <a:off x="5833216" y="2831507"/>
              <a:ext cx="195461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1582DE95-FDD5-4C31-B9F9-D9C7C51DA9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5625" y="2870807"/>
              <a:ext cx="93045" cy="14544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4BECCFBC-49F7-4502-85FE-1645B5FBBDDF}"/>
                </a:ext>
              </a:extLst>
            </p:cNvPr>
            <p:cNvSpPr txBox="1"/>
            <p:nvPr/>
          </p:nvSpPr>
          <p:spPr>
            <a:xfrm>
              <a:off x="4365185" y="3016250"/>
              <a:ext cx="24817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dirty="0"/>
                <a:t>1</a:t>
              </a:r>
              <a:r>
                <a:rPr lang="ja-JP" altLang="en-US" sz="1200" dirty="0"/>
                <a:t>フレームの時間（</a:t>
              </a:r>
              <a:r>
                <a:rPr lang="en-US" altLang="ja-JP" sz="1200" dirty="0" err="1"/>
                <a:t>ms</a:t>
              </a:r>
              <a:r>
                <a:rPr lang="ja-JP" altLang="en-US" sz="1200" dirty="0"/>
                <a:t>）</a:t>
              </a:r>
              <a:endParaRPr lang="en-US" altLang="ja-JP" sz="1200" dirty="0"/>
            </a:p>
            <a:p>
              <a:r>
                <a:rPr kumimoji="1" lang="en-US" altLang="ja-JP" sz="1200" dirty="0"/>
                <a:t>6ms</a:t>
              </a:r>
              <a:r>
                <a:rPr kumimoji="1" lang="ja-JP" altLang="en-US" sz="1200" dirty="0"/>
                <a:t>ごとにフレームが切り替わる</a:t>
              </a: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8208F8AF-0B22-4CAC-959A-0E21208551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0946" y="2516551"/>
              <a:ext cx="113532" cy="144000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69BD8327-899F-4271-81E7-702152C32B03}"/>
                </a:ext>
              </a:extLst>
            </p:cNvPr>
            <p:cNvSpPr txBox="1"/>
            <p:nvPr/>
          </p:nvSpPr>
          <p:spPr>
            <a:xfrm>
              <a:off x="5262001" y="2072874"/>
              <a:ext cx="15856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/>
                <a:t>フレーム数</a:t>
              </a:r>
              <a:endParaRPr kumimoji="1" lang="en-US" altLang="ja-JP" sz="1200" dirty="0"/>
            </a:p>
            <a:p>
              <a:r>
                <a:rPr lang="ja-JP" altLang="en-US" sz="1200" dirty="0"/>
                <a:t>合計</a:t>
              </a:r>
              <a:r>
                <a:rPr lang="en-US" altLang="ja-JP" sz="1200" dirty="0"/>
                <a:t>50</a:t>
              </a:r>
              <a:r>
                <a:rPr lang="ja-JP" altLang="en-US" sz="1200" dirty="0"/>
                <a:t>回切り替わる</a:t>
              </a:r>
              <a:endParaRPr kumimoji="1" lang="ja-JP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48872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24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FF4E16-4928-4981-AA52-FAA116C85245}"/>
              </a:ext>
            </a:extLst>
          </p:cNvPr>
          <p:cNvSpPr txBox="1"/>
          <p:nvPr/>
        </p:nvSpPr>
        <p:spPr>
          <a:xfrm>
            <a:off x="683568" y="1916832"/>
            <a:ext cx="112646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オンライン授業やハイブリッド授業が普及</a:t>
            </a:r>
            <a:endParaRPr kumimoji="1" lang="en-US" altLang="ja-JP" dirty="0"/>
          </a:p>
          <a:p>
            <a:r>
              <a:rPr lang="ja-JP" altLang="en-US" dirty="0"/>
              <a:t>数学や物理でよく用いられるグラフや図、波の伝搬などは分かりやすい可視化が求められる</a:t>
            </a:r>
            <a:endParaRPr lang="en-US" altLang="ja-JP" dirty="0"/>
          </a:p>
          <a:p>
            <a:r>
              <a:rPr kumimoji="1" lang="ja-JP" altLang="en-US" dirty="0"/>
              <a:t>手作業で作成する場合、動画編集ソフト、グラフツール、アニメーションソフトを複数組み合わせる必要有</a:t>
            </a:r>
            <a:endParaRPr kumimoji="1" lang="en-US" altLang="ja-JP" dirty="0"/>
          </a:p>
          <a:p>
            <a:r>
              <a:rPr lang="ja-JP" altLang="en-US" dirty="0"/>
              <a:t>作業負担大　時間の消費、ツール間の不整合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数学専用の可視化ツール→</a:t>
            </a:r>
            <a:r>
              <a:rPr lang="en-US" altLang="ja-JP" dirty="0"/>
              <a:t>Desmos</a:t>
            </a:r>
            <a:r>
              <a:rPr lang="ja-JP" altLang="en-US" dirty="0"/>
              <a:t>、</a:t>
            </a:r>
            <a:r>
              <a:rPr lang="en-US" altLang="ja-JP" dirty="0"/>
              <a:t>GeoGebra</a:t>
            </a:r>
          </a:p>
          <a:p>
            <a:r>
              <a:rPr kumimoji="1" lang="ja-JP" altLang="en-US" dirty="0"/>
              <a:t>プログラミングによる描画→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Manim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dirty="0"/>
              <a:t>After Effects</a:t>
            </a:r>
            <a:r>
              <a:rPr lang="ja-JP" altLang="en-US" dirty="0"/>
              <a:t>　動画作成ツールとしては強力　数学的に正確なグラフを数式から自動生成する機能はない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39224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25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先行研究の紹介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3DFC66-A824-4333-8B55-958574A6FFAA}"/>
              </a:ext>
            </a:extLst>
          </p:cNvPr>
          <p:cNvSpPr txBox="1"/>
          <p:nvPr/>
        </p:nvSpPr>
        <p:spPr>
          <a:xfrm>
            <a:off x="755576" y="2060848"/>
            <a:ext cx="118529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スクロール型プレゼンテーションフレームワーク（</a:t>
            </a:r>
            <a:r>
              <a:rPr kumimoji="1" lang="en-US" altLang="ja-JP" dirty="0"/>
              <a:t>Scroll Presentation Frame </a:t>
            </a:r>
            <a:r>
              <a:rPr kumimoji="1" lang="en-US" altLang="ja-JP" dirty="0" err="1"/>
              <a:t>Work:SPFW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r>
              <a:rPr kumimoji="1" lang="ja-JP" altLang="en-US" dirty="0"/>
              <a:t>スクロールによるプレゼンテーションを作成するフレームワーク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ページ型プレゼンテーションフレームワーク（</a:t>
            </a:r>
            <a:r>
              <a:rPr kumimoji="1" lang="en-US" altLang="ja-JP" dirty="0"/>
              <a:t>Page Presentation Frame </a:t>
            </a:r>
            <a:r>
              <a:rPr kumimoji="1" lang="en-US" altLang="ja-JP" dirty="0" err="1"/>
              <a:t>Work:PPFW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kumimoji="1" lang="ja-JP" altLang="en-US" dirty="0"/>
              <a:t>動画の一部分を</a:t>
            </a:r>
            <a:r>
              <a:rPr kumimoji="1" lang="en-US" altLang="ja-JP" dirty="0"/>
              <a:t>1</a:t>
            </a:r>
            <a:r>
              <a:rPr kumimoji="1" lang="ja-JP" altLang="en-US" dirty="0"/>
              <a:t>ページとし、ページ遷移により動画の疑似的なプレゼンテーションを生成できるフレームワーク</a:t>
            </a:r>
          </a:p>
        </p:txBody>
      </p:sp>
    </p:spTree>
    <p:extLst>
      <p:ext uri="{BB962C8B-B14F-4D97-AF65-F5344CB8AC3E}">
        <p14:creationId xmlns:p14="http://schemas.microsoft.com/office/powerpoint/2010/main" val="3834765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26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結果</a:t>
            </a:r>
          </a:p>
        </p:txBody>
      </p:sp>
    </p:spTree>
    <p:extLst>
      <p:ext uri="{BB962C8B-B14F-4D97-AF65-F5344CB8AC3E}">
        <p14:creationId xmlns:p14="http://schemas.microsoft.com/office/powerpoint/2010/main" val="1693164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27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研究目的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6775146-4AF3-4AB4-BF48-603F9BA16B06}"/>
              </a:ext>
            </a:extLst>
          </p:cNvPr>
          <p:cNvGrpSpPr/>
          <p:nvPr/>
        </p:nvGrpSpPr>
        <p:grpSpPr>
          <a:xfrm>
            <a:off x="395536" y="1246107"/>
            <a:ext cx="3423763" cy="369332"/>
            <a:chOff x="562931" y="1428431"/>
            <a:chExt cx="3423763" cy="36933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6F2C151-43EF-422C-806B-D280D186140B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5CCBC1C-3F80-4404-BDF6-C79706DDE1FC}"/>
                </a:ext>
              </a:extLst>
            </p:cNvPr>
            <p:cNvSpPr txBox="1"/>
            <p:nvPr/>
          </p:nvSpPr>
          <p:spPr>
            <a:xfrm>
              <a:off x="669760" y="1428431"/>
              <a:ext cx="3316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</a:t>
              </a:r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つのツールで授業動画を作る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8914F37-8778-4DF8-B46F-B5092249F989}"/>
              </a:ext>
            </a:extLst>
          </p:cNvPr>
          <p:cNvGrpSpPr/>
          <p:nvPr/>
        </p:nvGrpSpPr>
        <p:grpSpPr>
          <a:xfrm>
            <a:off x="395536" y="1872341"/>
            <a:ext cx="4215646" cy="369332"/>
            <a:chOff x="562931" y="2010458"/>
            <a:chExt cx="4215646" cy="369332"/>
          </a:xfrm>
        </p:grpSpPr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E6679751-CAD3-4A87-80F0-0E3E35DE472C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4215646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E767357-4987-4D61-8E98-717DC7BC5CF6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1F39D0D-33AF-4DFB-B396-541EB77E0659}"/>
                </a:ext>
              </a:extLst>
            </p:cNvPr>
            <p:cNvSpPr txBox="1"/>
            <p:nvPr/>
          </p:nvSpPr>
          <p:spPr>
            <a:xfrm>
              <a:off x="669760" y="2010458"/>
              <a:ext cx="41088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波形などのアニメーションを簡単描画</a:t>
              </a:r>
            </a:p>
          </p:txBody>
        </p:sp>
      </p:grp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A73039-7739-4F88-9103-54654C56583E}"/>
              </a:ext>
            </a:extLst>
          </p:cNvPr>
          <p:cNvSpPr/>
          <p:nvPr/>
        </p:nvSpPr>
        <p:spPr>
          <a:xfrm>
            <a:off x="395536" y="2498576"/>
            <a:ext cx="3816424" cy="402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9EE51C0-848E-4B96-83B5-4156BAAB97F5}"/>
              </a:ext>
            </a:extLst>
          </p:cNvPr>
          <p:cNvSpPr/>
          <p:nvPr/>
        </p:nvSpPr>
        <p:spPr>
          <a:xfrm>
            <a:off x="4932042" y="2498576"/>
            <a:ext cx="3816424" cy="402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コードを</a:t>
            </a:r>
          </a:p>
        </p:txBody>
      </p:sp>
    </p:spTree>
    <p:extLst>
      <p:ext uri="{BB962C8B-B14F-4D97-AF65-F5344CB8AC3E}">
        <p14:creationId xmlns:p14="http://schemas.microsoft.com/office/powerpoint/2010/main" val="1300330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28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研究目的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919D9F-0C2F-4413-B025-81FBD0DD4C6F}"/>
              </a:ext>
            </a:extLst>
          </p:cNvPr>
          <p:cNvSpPr txBox="1"/>
          <p:nvPr/>
        </p:nvSpPr>
        <p:spPr>
          <a:xfrm>
            <a:off x="1403648" y="2060848"/>
            <a:ext cx="101681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授業動画　時間や作業負担を減らして効率的に作成できるようにする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単一のフレームワークで完結するようにする（グラフ生成から授業用動画の生成まですべて）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グラフの生成を簡単に行う（複雑なグラフを含む）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45608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29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アニメーション制御の実装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9D27232-4D51-4A3D-8556-29E3CD0A9325}"/>
              </a:ext>
            </a:extLst>
          </p:cNvPr>
          <p:cNvSpPr/>
          <p:nvPr/>
        </p:nvSpPr>
        <p:spPr>
          <a:xfrm>
            <a:off x="539552" y="1246107"/>
            <a:ext cx="8064895" cy="527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スタートボタン、リセットボタンが表示されている画像</a:t>
            </a:r>
          </a:p>
        </p:txBody>
      </p:sp>
    </p:spTree>
    <p:extLst>
      <p:ext uri="{BB962C8B-B14F-4D97-AF65-F5344CB8AC3E}">
        <p14:creationId xmlns:p14="http://schemas.microsoft.com/office/powerpoint/2010/main" val="139123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30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アニメーション制御の実装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9D27232-4D51-4A3D-8556-29E3CD0A9325}"/>
              </a:ext>
            </a:extLst>
          </p:cNvPr>
          <p:cNvSpPr/>
          <p:nvPr/>
        </p:nvSpPr>
        <p:spPr>
          <a:xfrm>
            <a:off x="539552" y="1246107"/>
            <a:ext cx="8064895" cy="527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dirty="0"/>
              <a:t>コード貼る</a:t>
            </a:r>
            <a:endParaRPr lang="en-US" altLang="ja-JP" dirty="0"/>
          </a:p>
          <a:p>
            <a:r>
              <a:rPr kumimoji="1" lang="ja-JP" altLang="en-US" dirty="0"/>
              <a:t>ボタン（スタートボタン、リセットボタン）を作成するコードの説明</a:t>
            </a:r>
          </a:p>
        </p:txBody>
      </p:sp>
    </p:spTree>
    <p:extLst>
      <p:ext uri="{BB962C8B-B14F-4D97-AF65-F5344CB8AC3E}">
        <p14:creationId xmlns:p14="http://schemas.microsoft.com/office/powerpoint/2010/main" val="3038748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31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57C618-F3E9-45B9-9166-DB30EBC59B8D}"/>
              </a:ext>
            </a:extLst>
          </p:cNvPr>
          <p:cNvSpPr txBox="1"/>
          <p:nvPr/>
        </p:nvSpPr>
        <p:spPr>
          <a:xfrm>
            <a:off x="4640404" y="1909384"/>
            <a:ext cx="2550698" cy="1670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マウスで</a:t>
            </a:r>
            <a:endParaRPr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自由度が低い</a:t>
            </a:r>
            <a:endParaRPr kumimoji="1"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複数のツールを使用</a:t>
            </a:r>
            <a:endParaRPr kumimoji="1" lang="en-US" altLang="ja-JP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559286A-2C26-45EA-B028-B5F6A664A236}"/>
              </a:ext>
            </a:extLst>
          </p:cNvPr>
          <p:cNvGrpSpPr/>
          <p:nvPr/>
        </p:nvGrpSpPr>
        <p:grpSpPr>
          <a:xfrm>
            <a:off x="395536" y="1253395"/>
            <a:ext cx="5733241" cy="369332"/>
            <a:chOff x="562931" y="1428431"/>
            <a:chExt cx="5733241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0BB8A0A-6879-42EF-AA3A-2261DDE55198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83A19EF-9C00-4FB2-8AD4-D11D42F1D6F5}"/>
                </a:ext>
              </a:extLst>
            </p:cNvPr>
            <p:cNvSpPr txBox="1"/>
            <p:nvPr/>
          </p:nvSpPr>
          <p:spPr>
            <a:xfrm>
              <a:off x="669760" y="1428431"/>
              <a:ext cx="562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既存の授業スライド作成ツール（例：</a:t>
              </a: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PowerPoint</a:t>
              </a:r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）</a:t>
              </a: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B598FAF-8BD7-4C2E-BAA1-D4618E06EB0A}"/>
              </a:ext>
            </a:extLst>
          </p:cNvPr>
          <p:cNvSpPr txBox="1"/>
          <p:nvPr/>
        </p:nvSpPr>
        <p:spPr>
          <a:xfrm>
            <a:off x="657266" y="1909384"/>
            <a:ext cx="2319866" cy="1670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作業負担</a:t>
            </a:r>
            <a:r>
              <a:rPr lang="ja-JP" altLang="en-US" dirty="0"/>
              <a:t>が大きい</a:t>
            </a:r>
            <a:endParaRPr kumimoji="1"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時間の消費</a:t>
            </a:r>
            <a:endParaRPr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ツール間の不整合</a:t>
            </a:r>
            <a:endParaRPr kumimoji="1" lang="en-US" altLang="ja-JP" dirty="0"/>
          </a:p>
        </p:txBody>
      </p:sp>
      <p:sp>
        <p:nvSpPr>
          <p:cNvPr id="11" name="左中かっこ 10">
            <a:extLst>
              <a:ext uri="{FF2B5EF4-FFF2-40B4-BE49-F238E27FC236}">
                <a16:creationId xmlns:a16="http://schemas.microsoft.com/office/drawing/2014/main" id="{7D9928E9-8CD2-4361-9343-C3EF4D249B01}"/>
              </a:ext>
            </a:extLst>
          </p:cNvPr>
          <p:cNvSpPr/>
          <p:nvPr/>
        </p:nvSpPr>
        <p:spPr>
          <a:xfrm>
            <a:off x="3629649" y="1909384"/>
            <a:ext cx="358238" cy="1670907"/>
          </a:xfrm>
          <a:prstGeom prst="leftBrace">
            <a:avLst>
              <a:gd name="adj1" fmla="val 45277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667E47-9FA8-4308-AE40-55C4921236B9}"/>
              </a:ext>
            </a:extLst>
          </p:cNvPr>
          <p:cNvSpPr/>
          <p:nvPr/>
        </p:nvSpPr>
        <p:spPr>
          <a:xfrm>
            <a:off x="539552" y="3866948"/>
            <a:ext cx="8064896" cy="2592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PowerPoint</a:t>
            </a:r>
            <a:r>
              <a:rPr kumimoji="1" lang="ja-JP" altLang="en-US" dirty="0">
                <a:solidFill>
                  <a:schemeClr val="bg1">
                    <a:lumMod val="75000"/>
                  </a:schemeClr>
                </a:solidFill>
              </a:rPr>
              <a:t>を用いたアニメーション作成手順の例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254043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Conference_CORE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5">
      <a:majorFont>
        <a:latin typeface="原ノ味角ゴシック Medium"/>
        <a:ea typeface="原ノ味角ゴシック Medium"/>
        <a:cs typeface=""/>
      </a:majorFont>
      <a:minorFont>
        <a:latin typeface="原ノ味角ゴシック Normal"/>
        <a:ea typeface="原ノ味角ゴシック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Conference_KIT8A.potx" id="{ACD7AA85-177C-4A2C-BC1C-579D9EBD89F0}" vid="{594C48E5-02B9-498C-8D9D-0FF905A48594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Presentation_Conference_KIT8A</Template>
  <TotalTime>2646</TotalTime>
  <Words>1664</Words>
  <Application>Microsoft Office PowerPoint</Application>
  <PresentationFormat>画面に合わせる (4:3)</PresentationFormat>
  <Paragraphs>290</Paragraphs>
  <Slides>31</Slides>
  <Notes>9</Notes>
  <HiddenSlides>9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36" baseType="lpstr">
      <vt:lpstr>原ノ味角ゴシック Medium</vt:lpstr>
      <vt:lpstr>原ノ味角ゴシック Normal</vt:lpstr>
      <vt:lpstr>Arial</vt:lpstr>
      <vt:lpstr>Calibri</vt:lpstr>
      <vt:lpstr>Presentation_Conference_CORE5</vt:lpstr>
      <vt:lpstr>授業スライド向けアニメーション生成 フレームワークの開発</vt:lpstr>
      <vt:lpstr>研究背景</vt:lpstr>
      <vt:lpstr>研究目的</vt:lpstr>
      <vt:lpstr>Pythonの課題</vt:lpstr>
      <vt:lpstr>解決策</vt:lpstr>
      <vt:lpstr>原理</vt:lpstr>
      <vt:lpstr>アニメーション制御の実装</vt:lpstr>
      <vt:lpstr>アニメーション制御の実装</vt:lpstr>
      <vt:lpstr>図形・テキスト・画像のアニメーション制御</vt:lpstr>
      <vt:lpstr>図形・テキスト・画像のアニメーション制御</vt:lpstr>
      <vt:lpstr>図形・テキスト・画像のアニメーション制御</vt:lpstr>
      <vt:lpstr>図形・テキスト・画像のアニメーション制御</vt:lpstr>
      <vt:lpstr>ソースコードのメリット</vt:lpstr>
      <vt:lpstr>まとめ</vt:lpstr>
      <vt:lpstr>研究目的</vt:lpstr>
      <vt:lpstr>Contents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研究背景</vt:lpstr>
      <vt:lpstr>先行研究の紹介</vt:lpstr>
      <vt:lpstr>結果</vt:lpstr>
      <vt:lpstr>研究目的</vt:lpstr>
      <vt:lpstr>研究目的</vt:lpstr>
      <vt:lpstr>アニメーション制御の実装</vt:lpstr>
      <vt:lpstr>アニメーション制御の実装</vt:lpstr>
      <vt:lpstr>研究背景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nishimura</dc:creator>
  <cp:lastModifiedBy>nishimura</cp:lastModifiedBy>
  <cp:revision>94</cp:revision>
  <dcterms:created xsi:type="dcterms:W3CDTF">2025-11-17T06:31:31Z</dcterms:created>
  <dcterms:modified xsi:type="dcterms:W3CDTF">2025-12-11T07:12:25Z</dcterms:modified>
</cp:coreProperties>
</file>